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2cecb97f274cd5" /><Relationship Type="http://schemas.openxmlformats.org/officeDocument/2006/relationships/extended-properties" Target="/docProps/app.xml" Id="R99125b3f693841e3" /><Relationship Type="http://schemas.openxmlformats.org/officeDocument/2006/relationships/officeDocument" Target="/ppt/presentation.xml" Id="R15ae58a908ee45a2" /></Relationships>
</file>

<file path=ppt/presentation.xml><?xml version="1.0" encoding="utf-8"?>
<p:presentation xmlns:p="http://schemas.openxmlformats.org/presentationml/2006/main">
  <p:sldMasterIdLst>
    <p:sldMasterId xmlns:r="http://schemas.openxmlformats.org/officeDocument/2006/relationships" id="2147483648" r:id="R54bd5a1a403d4b9b"/>
  </p:sldMasterIdLst>
  <p:notesMasterIdLst>
    <p:notesMasterId xmlns:r="http://schemas.openxmlformats.org/officeDocument/2006/relationships" r:id="Rcb2993b8aa114efa"/>
  </p:notesMasterIdLst>
  <p:sldIdLst>
    <p:sldId xmlns:r="http://schemas.openxmlformats.org/officeDocument/2006/relationships" id="256" r:id="Rcc8ac621ecab464f"/>
    <p:sldId xmlns:r="http://schemas.openxmlformats.org/officeDocument/2006/relationships" id="257" r:id="Rdceff1e3aa0e48a5"/>
    <p:sldId xmlns:r="http://schemas.openxmlformats.org/officeDocument/2006/relationships" id="258" r:id="R850135f727614526"/>
    <p:sldId xmlns:r="http://schemas.openxmlformats.org/officeDocument/2006/relationships" id="259" r:id="R1e9cf247eff04f41"/>
    <p:sldId xmlns:r="http://schemas.openxmlformats.org/officeDocument/2006/relationships" id="260" r:id="Re8cf4df519c4453b"/>
    <p:sldId xmlns:r="http://schemas.openxmlformats.org/officeDocument/2006/relationships" id="261" r:id="Rea9b0431ea0d43af"/>
    <p:sldId xmlns:r="http://schemas.openxmlformats.org/officeDocument/2006/relationships" id="262" r:id="R23f05c9a3abb4ae9"/>
    <p:sldId xmlns:r="http://schemas.openxmlformats.org/officeDocument/2006/relationships" id="263" r:id="R53994cd84fc547ed"/>
    <p:sldId xmlns:r="http://schemas.openxmlformats.org/officeDocument/2006/relationships" id="264" r:id="R08c8f7b0cfcf42e6"/>
    <p:sldId xmlns:r="http://schemas.openxmlformats.org/officeDocument/2006/relationships" id="265" r:id="R5f40db974c0f4c35"/>
    <p:sldId xmlns:r="http://schemas.openxmlformats.org/officeDocument/2006/relationships" id="266" r:id="Rf73169e1e7b44318"/>
    <p:sldId xmlns:r="http://schemas.openxmlformats.org/officeDocument/2006/relationships" id="267" r:id="Ra9d7d22276a24d7b"/>
    <p:sldId xmlns:r="http://schemas.openxmlformats.org/officeDocument/2006/relationships" id="268" r:id="Rc6cc0c7995654011"/>
    <p:sldId xmlns:r="http://schemas.openxmlformats.org/officeDocument/2006/relationships" id="269" r:id="R86282d320ab64b16"/>
    <p:sldId xmlns:r="http://schemas.openxmlformats.org/officeDocument/2006/relationships" id="270" r:id="Rea2d3ce5c6f948f3"/>
    <p:sldId xmlns:r="http://schemas.openxmlformats.org/officeDocument/2006/relationships" id="271" r:id="R1da516f9566f414e"/>
    <p:sldId xmlns:r="http://schemas.openxmlformats.org/officeDocument/2006/relationships" id="272" r:id="R3415bb6e2b434744"/>
    <p:sldId xmlns:r="http://schemas.openxmlformats.org/officeDocument/2006/relationships" id="273" r:id="R770243e4364f45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3a2de2ccaa42b2" /><Relationship Type="http://schemas.openxmlformats.org/officeDocument/2006/relationships/slideMaster" Target="/ppt/slideMasters/slideMaster1.xml" Id="R54bd5a1a403d4b9b" /><Relationship Type="http://schemas.openxmlformats.org/officeDocument/2006/relationships/notesMaster" Target="/ppt/notesMasters/notesMaster1.xml" Id="Rcb2993b8aa114efa" /><Relationship Type="http://schemas.openxmlformats.org/officeDocument/2006/relationships/presProps" Target="/ppt/presProps.xml" Id="R66a370cc499d4f18" /><Relationship Type="http://schemas.openxmlformats.org/officeDocument/2006/relationships/tableStyles" Target="/ppt/tableStyles.xml" Id="R2469f2a1f1fd452e" /><Relationship Type="http://schemas.openxmlformats.org/officeDocument/2006/relationships/slide" Target="/ppt/slides/slide1.xml" Id="Rcc8ac621ecab464f" /><Relationship Type="http://schemas.openxmlformats.org/officeDocument/2006/relationships/slide" Target="/ppt/slides/slide2.xml" Id="Rdceff1e3aa0e48a5" /><Relationship Type="http://schemas.openxmlformats.org/officeDocument/2006/relationships/slide" Target="/ppt/slides/slide3.xml" Id="R850135f727614526" /><Relationship Type="http://schemas.openxmlformats.org/officeDocument/2006/relationships/slide" Target="/ppt/slides/slide4.xml" Id="R1e9cf247eff04f41" /><Relationship Type="http://schemas.openxmlformats.org/officeDocument/2006/relationships/slide" Target="/ppt/slides/slide5.xml" Id="Re8cf4df519c4453b" /><Relationship Type="http://schemas.openxmlformats.org/officeDocument/2006/relationships/slide" Target="/ppt/slides/slide6.xml" Id="Rea9b0431ea0d43af" /><Relationship Type="http://schemas.openxmlformats.org/officeDocument/2006/relationships/slide" Target="/ppt/slides/slide7.xml" Id="R23f05c9a3abb4ae9" /><Relationship Type="http://schemas.openxmlformats.org/officeDocument/2006/relationships/slide" Target="/ppt/slides/slide8.xml" Id="R53994cd84fc547ed" /><Relationship Type="http://schemas.openxmlformats.org/officeDocument/2006/relationships/slide" Target="/ppt/slides/slide9.xml" Id="R08c8f7b0cfcf42e6" /><Relationship Type="http://schemas.openxmlformats.org/officeDocument/2006/relationships/slide" Target="/ppt/slides/slide10.xml" Id="R5f40db974c0f4c35" /><Relationship Type="http://schemas.openxmlformats.org/officeDocument/2006/relationships/slide" Target="/ppt/slides/slide11.xml" Id="Rf73169e1e7b44318" /><Relationship Type="http://schemas.openxmlformats.org/officeDocument/2006/relationships/slide" Target="/ppt/slides/slide12.xml" Id="Ra9d7d22276a24d7b" /><Relationship Type="http://schemas.openxmlformats.org/officeDocument/2006/relationships/slide" Target="/ppt/slides/slide13.xml" Id="Rc6cc0c7995654011" /><Relationship Type="http://schemas.openxmlformats.org/officeDocument/2006/relationships/slide" Target="/ppt/slides/slide14.xml" Id="R86282d320ab64b16" /><Relationship Type="http://schemas.openxmlformats.org/officeDocument/2006/relationships/slide" Target="/ppt/slides/slide15.xml" Id="Rea2d3ce5c6f948f3" /><Relationship Type="http://schemas.openxmlformats.org/officeDocument/2006/relationships/slide" Target="/ppt/slides/slide16.xml" Id="R1da516f9566f414e" /><Relationship Type="http://schemas.openxmlformats.org/officeDocument/2006/relationships/slide" Target="/ppt/slides/slide17.xml" Id="R3415bb6e2b434744" /><Relationship Type="http://schemas.openxmlformats.org/officeDocument/2006/relationships/slide" Target="/ppt/slides/slide18.xml" Id="R770243e4364f45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cf3bee080d40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d153aa711d4d9f" /><Relationship Type="http://schemas.openxmlformats.org/officeDocument/2006/relationships/notesMaster" Target="/ppt/notesMasters/notesMaster1.xml" Id="R90aed7173aee40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9b21b8524e4bbd" /><Relationship Type="http://schemas.openxmlformats.org/officeDocument/2006/relationships/notesMaster" Target="/ppt/notesMasters/notesMaster1.xml" Id="R309603bb753f49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26160d6fdb4193" /><Relationship Type="http://schemas.openxmlformats.org/officeDocument/2006/relationships/notesMaster" Target="/ppt/notesMasters/notesMaster1.xml" Id="Rd0833f759ba345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b05e23ccfe438a" /><Relationship Type="http://schemas.openxmlformats.org/officeDocument/2006/relationships/notesMaster" Target="/ppt/notesMasters/notesMaster1.xml" Id="Rd899cd9d614346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80040abcdb4d4a" /><Relationship Type="http://schemas.openxmlformats.org/officeDocument/2006/relationships/notesMaster" Target="/ppt/notesMasters/notesMaster1.xml" Id="R4c95bcfb60854e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e9925f22f44304" /><Relationship Type="http://schemas.openxmlformats.org/officeDocument/2006/relationships/notesMaster" Target="/ppt/notesMasters/notesMaster1.xml" Id="R4fc7c522f8a94b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8622cb36444767" /><Relationship Type="http://schemas.openxmlformats.org/officeDocument/2006/relationships/notesMaster" Target="/ppt/notesMasters/notesMaster1.xml" Id="R073ce7cfb0f842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391b3ee8554ada" /><Relationship Type="http://schemas.openxmlformats.org/officeDocument/2006/relationships/notesMaster" Target="/ppt/notesMasters/notesMaster1.xml" Id="R3c0a6b0aebc548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1555c2102d489e" /><Relationship Type="http://schemas.openxmlformats.org/officeDocument/2006/relationships/notesMaster" Target="/ppt/notesMasters/notesMaster1.xml" Id="R7450166960e74c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b9a3833f9d4471" /><Relationship Type="http://schemas.openxmlformats.org/officeDocument/2006/relationships/notesMaster" Target="/ppt/notesMasters/notesMaster1.xml" Id="Rd9a7b02b204d43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53f9110e1d4d23" /><Relationship Type="http://schemas.openxmlformats.org/officeDocument/2006/relationships/notesMaster" Target="/ppt/notesMasters/notesMaster1.xml" Id="R28c98bea73cf48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2bde2545744617" /><Relationship Type="http://schemas.openxmlformats.org/officeDocument/2006/relationships/notesMaster" Target="/ppt/notesMasters/notesMaster1.xml" Id="R2a739b6bd91145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e9cd81fe5a40ec" /><Relationship Type="http://schemas.openxmlformats.org/officeDocument/2006/relationships/notesMaster" Target="/ppt/notesMasters/notesMaster1.xml" Id="R0620f44a5c9645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c5e0fb0b1d46cd" /><Relationship Type="http://schemas.openxmlformats.org/officeDocument/2006/relationships/notesMaster" Target="/ppt/notesMasters/notesMaster1.xml" Id="R7d129eda5c3340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ea11de97b44821" /><Relationship Type="http://schemas.openxmlformats.org/officeDocument/2006/relationships/notesMaster" Target="/ppt/notesMasters/notesMaster1.xml" Id="R7e3aa8ba987c4c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de0e448fd44f1b" /><Relationship Type="http://schemas.openxmlformats.org/officeDocument/2006/relationships/notesMaster" Target="/ppt/notesMasters/notesMaster1.xml" Id="R96c5e39a342d47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efe4a5740f4ea9" /><Relationship Type="http://schemas.openxmlformats.org/officeDocument/2006/relationships/notesMaster" Target="/ppt/notesMasters/notesMaster1.xml" Id="R431e6e440bee46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abc2bf36944b5f" /><Relationship Type="http://schemas.openxmlformats.org/officeDocument/2006/relationships/notesMaster" Target="/ppt/notesMasters/notesMaster1.xml" Id="R0c488584d8ad42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Twinlab</a:t>
            </a:r>
          </a:p>
          <a:p xmlns:a="http://schemas.openxmlformats.org/drawingml/2006/main">
            <a:r>
              <a:t>RECORDING WINDOW: 00:00 - 00:45 (45 seconds)</a:t>
            </a:r>
          </a:p>
          <a:p xmlns:a="http://schemas.openxmlformats.org/drawingml/2006/main">
            <a:r>
              <a:t>PROTOTYPE FEATURE: Prototype scope</a:t>
            </a:r>
          </a:p>
          <a:p xmlns:a="http://schemas.openxmlformats.org/drawingml/2006/main">
            <a:r>
              <a:t>WHERE: Patient overview: synthetic-data notice</a:t>
            </a:r>
          </a:p>
          <a:p xmlns:a="http://schemas.openxmlformats.org/drawingml/2006/main">
            <a:r>
              <a:t>SCREEN: PPT</a:t>
            </a:r>
          </a:p>
          <a:p xmlns:a="http://schemas.openxmlformats.org/drawingml/2006/main">
            <a:r>
              <a:t>PRESENTER ACTION: Keep the cover visible. The working app is preloaded in a separate tab.</a:t>
            </a:r>
          </a:p>
          <a:p xmlns:a="http://schemas.openxmlformats.org/drawingml/2006/main">
            <a:r>
              <a:t/>
            </a:r>
          </a:p>
          <a:p xmlns:a="http://schemas.openxmlformats.org/drawingml/2006/main">
            <a:r>
              <a:t>NARRATION AND TIMED ACTIONS</a:t>
            </a:r>
          </a:p>
          <a:p xmlns:a="http://schemas.openxmlformats.org/drawingml/2006/main">
            <a:r>
              <a:t>Hello everyone. I am Jagjeet Singh, presenting with my teammate Shivay Saurya. We are team jagjeet.work.16 from the National Institute of Technology Agartala.</a:t>
            </a:r>
          </a:p>
          <a:p xmlns:a="http://schemas.openxmlformats.org/drawingml/2006/main">
            <a:r>
              <a:t/>
            </a:r>
          </a:p>
          <a:p xmlns:a="http://schemas.openxmlformats.org/drawingml/2006/main">
            <a:r>
              <a:t>[Pause 2 seconds.]</a:t>
            </a:r>
          </a:p>
          <a:p xmlns:a="http://schemas.openxmlformats.org/drawingml/2006/main">
            <a:r>
              <a:t/>
            </a:r>
          </a:p>
          <a:p xmlns:a="http://schemas.openxmlformats.org/drawingml/2006/main">
            <a:r>
              <a:t>Twinlab is a Digital Twin proof of concept for Type 2 Diabetes. It combines simulated health records and wearable measurements to forecast glucose two hours ahead and flag elevated readings.</a:t>
            </a:r>
          </a:p>
          <a:p xmlns:a="http://schemas.openxmlformats.org/drawingml/2006/main">
            <a:r>
              <a:t/>
            </a:r>
          </a:p>
          <a:p xmlns:a="http://schemas.openxmlformats.org/drawingml/2006/main">
            <a:r>
              <a:t>I will explain the data streams, trained models, benchmarking and working dashboard. All patient data is synthetic, and I will show the prototype's limitations openly.</a:t>
            </a:r>
          </a:p>
          <a:p xmlns:a="http://schemas.openxmlformats.org/drawingml/2006/main">
            <a:r>
              <a:t/>
            </a:r>
          </a:p>
          <a:p xmlns:a="http://schemas.openxmlformats.org/drawingml/2006/main">
            <a:r>
              <a:t>[Pause 2 seconds. Advance near 00:45.]</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Problem and healthcare use case</a:t>
            </a:r>
          </a:p>
          <a:p xmlns:a="http://schemas.openxmlformats.org/drawingml/2006/main">
            <a:r>
              <a:t>RECORDING WINDOW: 00:45 - 01:45 (60 seconds)</a:t>
            </a:r>
          </a:p>
          <a:p xmlns:a="http://schemas.openxmlformats.org/drawingml/2006/main">
            <a:r>
              <a:t>PROTOTYPE FEATURE: Clinician review</a:t>
            </a:r>
          </a:p>
          <a:p xmlns:a="http://schemas.openxmlformats.org/drawingml/2006/main">
            <a:r>
              <a:t>WHERE: Patient overview: patient selector and forecast cards</a:t>
            </a:r>
          </a:p>
          <a:p xmlns:a="http://schemas.openxmlformats.org/drawingml/2006/main">
            <a:r>
              <a:t>SCREEN: PPT, then app</a:t>
            </a:r>
          </a:p>
          <a:p xmlns:a="http://schemas.openxmlformats.org/drawingml/2006/main">
            <a:r>
              <a:t>PRESENTER ACTION: After the first two paragraphs, switch to Patient overview. Point to the selected patient, current glucose, two-hour forecast and event-risk card while continuing the narration. Return to slide 3 at 01:45.</a:t>
            </a:r>
          </a:p>
          <a:p xmlns:a="http://schemas.openxmlformats.org/drawingml/2006/main">
            <a:r>
              <a:t/>
            </a:r>
          </a:p>
          <a:p xmlns:a="http://schemas.openxmlformats.org/drawingml/2006/main">
            <a:r>
              <a:t>NARRATION AND TIMED ACTIONS</a:t>
            </a:r>
          </a:p>
          <a:p xmlns:a="http://schemas.openxmlformats.org/drawingml/2006/main">
            <a:r>
              <a:t>A health record tells a doctor about a patient's history. It may include age, previous diagnoses and laboratory results. But that record does not continuously describe what is happening during the current hour.</a:t>
            </a:r>
          </a:p>
          <a:p xmlns:a="http://schemas.openxmlformats.org/drawingml/2006/main">
            <a:r>
              <a:t/>
            </a:r>
          </a:p>
          <a:p xmlns:a="http://schemas.openxmlformats.org/drawingml/2006/main">
            <a:r>
              <a:t>Wearable measurements provide the changing picture. A person's glucose may be rising, their recent activity may be low, and their sleep may differ from the previous day.</a:t>
            </a:r>
          </a:p>
          <a:p xmlns:a="http://schemas.openxmlformats.org/drawingml/2006/main">
            <a:r>
              <a:t/>
            </a:r>
          </a:p>
          <a:p xmlns:a="http://schemas.openxmlformats.org/drawingml/2006/main">
            <a:r>
              <a:t>[Pause 3 seconds. Switch to Patient overview and point to the selected patient and forecast cards. Continue the remaining narration over the app.]</a:t>
            </a:r>
          </a:p>
          <a:p xmlns:a="http://schemas.openxmlformats.org/drawingml/2006/main">
            <a:r>
              <a:t/>
            </a:r>
          </a:p>
          <a:p xmlns:a="http://schemas.openxmlformats.org/drawingml/2006/main">
            <a:r>
              <a:t>Twinlab brings these sources together. The intended user is a doctor reviewing a virtual patient and asking: what might this person's glucose be two hours from now?</a:t>
            </a:r>
          </a:p>
          <a:p xmlns:a="http://schemas.openxmlformats.org/drawingml/2006/main">
            <a:r>
              <a:t/>
            </a:r>
          </a:p>
          <a:p xmlns:a="http://schemas.openxmlformats.org/drawingml/2006/main">
            <a:r>
              <a:t>The interface provides a forecast and a warning that the doctor can inspect alongside the source measurements. It supports an assessment workflow; it does not prescribe medication or automatically change treatment.</a:t>
            </a:r>
          </a:p>
          <a:p xmlns:a="http://schemas.openxmlformats.org/drawingml/2006/main">
            <a:r>
              <a:t/>
            </a:r>
          </a:p>
          <a:p xmlns:a="http://schemas.openxmlformats.org/drawingml/2006/main">
            <a:r>
              <a:t>[Pause 2 seconds. Advance near 01:45.]</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Prediction target</a:t>
            </a:r>
          </a:p>
          <a:p xmlns:a="http://schemas.openxmlformats.org/drawingml/2006/main">
            <a:r>
              <a:t>RECORDING WINDOW: 01:45 - 02:45 (60 seconds)</a:t>
            </a:r>
          </a:p>
          <a:p xmlns:a="http://schemas.openxmlformats.org/drawingml/2006/main">
            <a:r>
              <a:t>PROTOTYPE FEATURE: Two-hour prediction target</a:t>
            </a:r>
          </a:p>
          <a:p xmlns:a="http://schemas.openxmlformats.org/drawingml/2006/main">
            <a:r>
              <a:t>WHERE: Patient overview: Glucose in 2 hours and New adverse event</a:t>
            </a:r>
          </a:p>
          <a:p xmlns:a="http://schemas.openxmlformats.org/drawingml/2006/main">
            <a:r>
              <a:t>SCREEN: PPT</a:t>
            </a:r>
          </a:p>
          <a:p xmlns:a="http://schemas.openxmlformats.org/drawingml/2006/main">
            <a:r>
              <a:t>PRESENTER ACTION: Keep the target slide visible. Map its endpoint definition to the two forecast cards shown on slide 2. Reserve outcome reveal for slide 15.</a:t>
            </a:r>
          </a:p>
          <a:p xmlns:a="http://schemas.openxmlformats.org/drawingml/2006/main">
            <a:r>
              <a:t/>
            </a:r>
          </a:p>
          <a:p xmlns:a="http://schemas.openxmlformats.org/drawingml/2006/main">
            <a:r>
              <a:t>NARRATION AND TIMED ACTIONS</a:t>
            </a:r>
          </a:p>
          <a:p xmlns:a="http://schemas.openxmlformats.org/drawingml/2006/main">
            <a:r>
              <a:t>Before discussing accuracy, we need a precise definition of what the model predicts.</a:t>
            </a:r>
          </a:p>
          <a:p xmlns:a="http://schemas.openxmlformats.org/drawingml/2006/main">
            <a:r>
              <a:t/>
            </a:r>
          </a:p>
          <a:p xmlns:a="http://schemas.openxmlformats.org/drawingml/2006/main">
            <a:r>
              <a:t>At the current time, the first model forecasts glucose exactly one hundred and twenty minutes later. A second model estimates the risk of a new elevated-glucose event.</a:t>
            </a:r>
          </a:p>
          <a:p xmlns:a="http://schemas.openxmlformats.org/drawingml/2006/main">
            <a:r>
              <a:t/>
            </a:r>
          </a:p>
          <a:p xmlns:a="http://schemas.openxmlformats.org/drawingml/2006/main">
            <a:r>
              <a:t>For this project, a new event means that glucose is at or below one hundred and eighty milligrams per decilitre now, and above that value exactly two hours later.</a:t>
            </a:r>
          </a:p>
          <a:p xmlns:a="http://schemas.openxmlformats.org/drawingml/2006/main">
            <a:r>
              <a:t/>
            </a:r>
          </a:p>
          <a:p xmlns:a="http://schemas.openxmlformats.org/drawingml/2006/main">
            <a:r>
              <a:t>[Pause 3 seconds. Point to the current time and the two-hour endpoint.]</a:t>
            </a:r>
          </a:p>
          <a:p xmlns:a="http://schemas.openxmlformats.org/drawingml/2006/main">
            <a:r>
              <a:t/>
            </a:r>
          </a:p>
          <a:p xmlns:a="http://schemas.openxmlformats.org/drawingml/2006/main">
            <a:r>
              <a:t>This definition does not include every temporary crossing between those times. It also excludes a reading that is already elevated now from the new-event category.</a:t>
            </a:r>
          </a:p>
          <a:p xmlns:a="http://schemas.openxmlformats.org/drawingml/2006/main">
            <a:r>
              <a:t/>
            </a:r>
          </a:p>
          <a:p xmlns:a="http://schemas.openxmlformats.org/drawingml/2006/main">
            <a:r>
              <a:t>The threshold defines our experiment. The numerical forecast and event-risk score are separate outputs, so they can give different but complementary information.</a:t>
            </a:r>
          </a:p>
          <a:p xmlns:a="http://schemas.openxmlformats.org/drawingml/2006/main">
            <a:r>
              <a:t/>
            </a:r>
          </a:p>
          <a:p xmlns:a="http://schemas.openxmlformats.org/drawingml/2006/main">
            <a:r>
              <a:t>[Pause 2 seconds. Advance near 02:45.]</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Fusion of two data streams</a:t>
            </a:r>
          </a:p>
          <a:p xmlns:a="http://schemas.openxmlformats.org/drawingml/2006/main">
            <a:r>
              <a:t>RECORDING WINDOW: 02:45 - 04:05 (80 seconds)</a:t>
            </a:r>
          </a:p>
          <a:p xmlns:a="http://schemas.openxmlformats.org/drawingml/2006/main">
            <a:r>
              <a:t>PROTOTYPE FEATURE: EHR and wearable fusion</a:t>
            </a:r>
          </a:p>
          <a:p xmlns:a="http://schemas.openxmlformats.org/drawingml/2006/main">
            <a:r>
              <a:t>WHERE: Data streams: Historical EHR, Wearable window and Sensor event log</a:t>
            </a:r>
          </a:p>
          <a:p xmlns:a="http://schemas.openxmlformats.org/drawingml/2006/main">
            <a:r>
              <a:t>SCREEN: PPT, then app</a:t>
            </a:r>
          </a:p>
          <a:p xmlns:a="http://schemas.openxmlformats.org/drawingml/2006/main">
            <a:r>
              <a:t>PRESENTER ACTION: After the opening sentence, open Data streams. Point to both payloads and matching patient IDs while explaining the two inputs. Scroll to the event log during the last paragraph. Return to slide 5 at 04:05.</a:t>
            </a:r>
          </a:p>
          <a:p xmlns:a="http://schemas.openxmlformats.org/drawingml/2006/main">
            <a:r>
              <a:t/>
            </a:r>
          </a:p>
          <a:p xmlns:a="http://schemas.openxmlformats.org/drawingml/2006/main">
            <a:r>
              <a:t>NARRATION AND TIMED ACTIONS</a:t>
            </a:r>
          </a:p>
          <a:p xmlns:a="http://schemas.openxmlformats.org/drawingml/2006/main">
            <a:r>
              <a:t>This slide shows the challenge's central requirement: combining historical information with a changing sensor stream.</a:t>
            </a:r>
          </a:p>
          <a:p xmlns:a="http://schemas.openxmlformats.org/drawingml/2006/main">
            <a:r>
              <a:t/>
            </a:r>
          </a:p>
          <a:p xmlns:a="http://schemas.openxmlformats.org/drawingml/2006/main">
            <a:r>
              <a:t>[Open Data streams. Continue speaking while pointing to Historical EHR and Wearable window.]</a:t>
            </a:r>
          </a:p>
          <a:p xmlns:a="http://schemas.openxmlformats.org/drawingml/2006/main">
            <a:r>
              <a:t/>
            </a:r>
          </a:p>
          <a:p xmlns:a="http://schemas.openxmlformats.org/drawingml/2006/main">
            <a:r>
              <a:t>The first stream is a synthetic electronic health record. It contains demographics, body mass index, HbA1c, diagnosis duration and a hypothetical genetic marker. The marker is fictional; we are not claiming that it represents a real genetic association.</a:t>
            </a:r>
          </a:p>
          <a:p xmlns:a="http://schemas.openxmlformats.org/drawingml/2006/main">
            <a:r>
              <a:t/>
            </a:r>
          </a:p>
          <a:p xmlns:a="http://schemas.openxmlformats.org/drawingml/2006/main">
            <a:r>
              <a:t>The second stream contains five-minute glucose readings, heart rate, heart-rate variability, step count and previous-night sleep duration.</a:t>
            </a:r>
          </a:p>
          <a:p xmlns:a="http://schemas.openxmlformats.org/drawingml/2006/main">
            <a:r>
              <a:t/>
            </a:r>
          </a:p>
          <a:p xmlns:a="http://schemas.openxmlformats.org/drawingml/2006/main">
            <a:r>
              <a:t>[Pause 4 seconds. Point to the two payloads and matching patient IDs in the app.]</a:t>
            </a:r>
          </a:p>
          <a:p xmlns:a="http://schemas.openxmlformats.org/drawingml/2006/main">
            <a:r>
              <a:t/>
            </a:r>
          </a:p>
          <a:p xmlns:a="http://schemas.openxmlformats.org/drawingml/2006/main">
            <a:r>
              <a:t>We link the streams using patient ID. The health record supplies relatively stable context, while the sensor history describes the patient's recent state. Feature extraction combines this information into one model input.</a:t>
            </a:r>
          </a:p>
          <a:p xmlns:a="http://schemas.openxmlformats.org/drawingml/2006/main">
            <a:r>
              <a:t/>
            </a:r>
          </a:p>
          <a:p xmlns:a="http://schemas.openxmlformats.org/drawingml/2006/main">
            <a:r>
              <a:t>This is more than displaying two unrelated panels on a webpage. The fitted predictor receives features from both streams, and our later comparison measures what happens when either stream is removed.</a:t>
            </a:r>
          </a:p>
          <a:p xmlns:a="http://schemas.openxmlformats.org/drawingml/2006/main">
            <a:r>
              <a:t/>
            </a:r>
          </a:p>
          <a:p xmlns:a="http://schemas.openxmlformats.org/drawingml/2006/main">
            <a:r>
              <a:t>We use synthetic data for both sources. No real patient records, wearable accounts or restricted clinical databases are needed to reproduce the prototype.</a:t>
            </a:r>
          </a:p>
          <a:p xmlns:a="http://schemas.openxmlformats.org/drawingml/2006/main">
            <a:r>
              <a:t/>
            </a:r>
          </a:p>
          <a:p xmlns:a="http://schemas.openxmlformats.org/drawingml/2006/main">
            <a:r>
              <a:t>[Pause 3 seconds. Advance near 04:05.]</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Synthetic longitudinal data</a:t>
            </a:r>
          </a:p>
          <a:p xmlns:a="http://schemas.openxmlformats.org/drawingml/2006/main">
            <a:r>
              <a:t>RECORDING WINDOW: 04:05 - 05:00 (55 seconds)</a:t>
            </a:r>
          </a:p>
          <a:p xmlns:a="http://schemas.openxmlformats.org/drawingml/2006/main">
            <a:r>
              <a:t>PROTOTYPE FEATURE: Synthetic timelines</a:t>
            </a:r>
          </a:p>
          <a:p xmlns:a="http://schemas.openxmlformats.org/drawingml/2006/main">
            <a:r>
              <a:t>WHERE: Data streams: Sensor event log; research CSV files</a:t>
            </a:r>
          </a:p>
          <a:p xmlns:a="http://schemas.openxmlformats.org/drawingml/2006/main">
            <a:r>
              <a:t>SCREEN: PPT</a:t>
            </a:r>
          </a:p>
          <a:p xmlns:a="http://schemas.openxmlformats.org/drawingml/2006/main">
            <a:r>
              <a:t>PRESENTER ACTION: Keep the dataset counts visible. The event log is a short current-history view, not the full 207,360-row dataset. Full counts are supported by research/ehr.csv, research/wearables.csv and verify-data.py.</a:t>
            </a:r>
          </a:p>
          <a:p xmlns:a="http://schemas.openxmlformats.org/drawingml/2006/main">
            <a:r>
              <a:t/>
            </a:r>
          </a:p>
          <a:p xmlns:a="http://schemas.openxmlformats.org/drawingml/2006/main">
            <a:r>
              <a:t>NARRATION AND TIMED ACTIONS</a:t>
            </a:r>
          </a:p>
          <a:p xmlns:a="http://schemas.openxmlformats.org/drawingml/2006/main">
            <a:r>
              <a:t>Our dataset contains ninety fictional patient profiles and eight days of observations for each person. At one reading every five minutes, that gives two hundred and seven thousand, three hundred and sixty sensor records.</a:t>
            </a:r>
          </a:p>
          <a:p xmlns:a="http://schemas.openxmlformats.org/drawingml/2006/main">
            <a:r>
              <a:t/>
            </a:r>
          </a:p>
          <a:p xmlns:a="http://schemas.openxmlformats.org/drawingml/2006/main">
            <a:r>
              <a:t>The generator includes varying meal timing, meal responses, daily rhythms, sleep, activity and noise. Patient characteristics influence the simulated baseline and response.</a:t>
            </a:r>
          </a:p>
          <a:p xmlns:a="http://schemas.openxmlformats.org/drawingml/2006/main">
            <a:r>
              <a:t/>
            </a:r>
          </a:p>
          <a:p xmlns:a="http://schemas.openxmlformats.org/drawingml/2006/main">
            <a:r>
              <a:t>[Pause 3 seconds. Point to the dataset size.]</a:t>
            </a:r>
          </a:p>
          <a:p xmlns:a="http://schemas.openxmlformats.org/drawingml/2006/main">
            <a:r>
              <a:t/>
            </a:r>
          </a:p>
          <a:p xmlns:a="http://schemas.openxmlformats.org/drawingml/2006/main">
            <a:r>
              <a:t>The labels come from later readings on these timelines. We do not supply future readings or future meal information to the predictor.</a:t>
            </a:r>
          </a:p>
          <a:p xmlns:a="http://schemas.openxmlformats.org/drawingml/2006/main">
            <a:r>
              <a:t/>
            </a:r>
          </a:p>
          <a:p xmlns:a="http://schemas.openxmlformats.org/drawingml/2006/main">
            <a:r>
              <a:t>The simulation supports a reproducible engineering experiment. It has not been validated as a physiological model of Indian patients, so good performance here cannot establish real-world clinical accuracy.</a:t>
            </a:r>
          </a:p>
          <a:p xmlns:a="http://schemas.openxmlformats.org/drawingml/2006/main">
            <a:r>
              <a:t/>
            </a:r>
          </a:p>
          <a:p xmlns:a="http://schemas.openxmlformats.org/drawingml/2006/main">
            <a:r>
              <a:t>[Pause 2 seconds. Advance near 05:00.]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System architecture</a:t>
            </a:r>
          </a:p>
          <a:p xmlns:a="http://schemas.openxmlformats.org/drawingml/2006/main">
            <a:r>
              <a:t>RECORDING WINDOW: 05:00 - 06:20 (80 seconds)</a:t>
            </a:r>
          </a:p>
          <a:p xmlns:a="http://schemas.openxmlformats.org/drawingml/2006/main">
            <a:r>
              <a:t>PROTOTYPE FEATURE: Inference pipeline</a:t>
            </a:r>
          </a:p>
          <a:p xmlns:a="http://schemas.openxmlformats.org/drawingml/2006/main">
            <a:r>
              <a:t>WHERE: Data streams, patient state, fitted models and dashboard</a:t>
            </a:r>
          </a:p>
          <a:p xmlns:a="http://schemas.openxmlformats.org/drawingml/2006/main">
            <a:r>
              <a:t>SCREEN: PPT</a:t>
            </a:r>
          </a:p>
          <a:p xmlns:a="http://schemas.openxmlformats.org/drawingml/2006/main">
            <a:r>
              <a:t>PRESENTER ACTION: Stay on the architecture diagram. Trace the two inputs into the feature state and the two outputs. Hidden future observations enter only the later evaluation.</a:t>
            </a:r>
          </a:p>
          <a:p xmlns:a="http://schemas.openxmlformats.org/drawingml/2006/main">
            <a:r>
              <a:t/>
            </a:r>
          </a:p>
          <a:p xmlns:a="http://schemas.openxmlformats.org/drawingml/2006/main">
            <a:r>
              <a:t>NARRATION AND TIMED ACTIONS</a:t>
            </a:r>
          </a:p>
          <a:p xmlns:a="http://schemas.openxmlformats.org/drawingml/2006/main">
            <a:r>
              <a:t>Let us follow the architecture from input to output.</a:t>
            </a:r>
          </a:p>
          <a:p xmlns:a="http://schemas.openxmlformats.org/drawingml/2006/main">
            <a:r>
              <a:t/>
            </a:r>
          </a:p>
          <a:p xmlns:a="http://schemas.openxmlformats.org/drawingml/2006/main">
            <a:r>
              <a:t>On the left are the static health record and chronological sensor observations. They enter the patient-state layer, where the system joins the records and calculates features from current and past measurements.</a:t>
            </a:r>
          </a:p>
          <a:p xmlns:a="http://schemas.openxmlformats.org/drawingml/2006/main">
            <a:r>
              <a:t/>
            </a:r>
          </a:p>
          <a:p xmlns:a="http://schemas.openxmlformats.org/drawingml/2006/main">
            <a:r>
              <a:t>[Pause 3 seconds. Trace the two inputs into patient state.]</a:t>
            </a:r>
          </a:p>
          <a:p xmlns:a="http://schemas.openxmlformats.org/drawingml/2006/main">
            <a:r>
              <a:t/>
            </a:r>
          </a:p>
          <a:p xmlns:a="http://schemas.openxmlformats.org/drawingml/2006/main">
            <a:r>
              <a:t>The feature vector then enters two trained models. The regression model produces a glucose forecast. The classification model produces an event-risk score. Separate calibration data supports the risk mapping and the forecast interval.</a:t>
            </a:r>
          </a:p>
          <a:p xmlns:a="http://schemas.openxmlformats.org/drawingml/2006/main">
            <a:r>
              <a:t/>
            </a:r>
          </a:p>
          <a:p xmlns:a="http://schemas.openxmlformats.org/drawingml/2006/main">
            <a:r>
              <a:t>The dashboard presents these outputs with the source observations so that a doctor can understand the virtual patient's state.</a:t>
            </a:r>
          </a:p>
          <a:p xmlns:a="http://schemas.openxmlformats.org/drawingml/2006/main">
            <a:r>
              <a:t/>
            </a:r>
          </a:p>
          <a:p xmlns:a="http://schemas.openxmlformats.org/drawingml/2006/main">
            <a:r>
              <a:t>[Pause 3 seconds. Trace the model outputs to the dashboard.]</a:t>
            </a:r>
          </a:p>
          <a:p xmlns:a="http://schemas.openxmlformats.org/drawingml/2006/main">
            <a:r>
              <a:t/>
            </a:r>
          </a:p>
          <a:p xmlns:a="http://schemas.openxmlformats.org/drawingml/2006/main">
            <a:r>
              <a:t>Future observations take a separate path. They remain hidden during prediction and are revealed afterwards to check the result.</a:t>
            </a:r>
          </a:p>
          <a:p xmlns:a="http://schemas.openxmlformats.org/drawingml/2006/main">
            <a:r>
              <a:t/>
            </a:r>
          </a:p>
          <a:p xmlns:a="http://schemas.openxmlformats.org/drawingml/2006/main">
            <a:r>
              <a:t>Training takes place offline in Python. We export the fitted model parameters to JSON, and JavaScript performs inference in the browser. Opening the site loads an already-trained model; it does not train a new model or generate a display-only prediction.</a:t>
            </a:r>
          </a:p>
          <a:p xmlns:a="http://schemas.openxmlformats.org/drawingml/2006/main">
            <a:r>
              <a:t/>
            </a:r>
          </a:p>
          <a:p xmlns:a="http://schemas.openxmlformats.org/drawingml/2006/main">
            <a:r>
              <a:t>[Pause 3 seconds. Advance near 06:20.]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The virtual patient state</a:t>
            </a:r>
          </a:p>
          <a:p xmlns:a="http://schemas.openxmlformats.org/drawingml/2006/main">
            <a:r>
              <a:t>RECORDING WINDOW: 06:20 - 07:30 (70 seconds)</a:t>
            </a:r>
          </a:p>
          <a:p xmlns:a="http://schemas.openxmlformats.org/drawingml/2006/main">
            <a:r>
              <a:t>PROTOTYPE FEATURE: State updates</a:t>
            </a:r>
          </a:p>
          <a:p xmlns:a="http://schemas.openxmlformats.org/drawingml/2006/main">
            <a:r>
              <a:t>WHERE: Patient overview: Next 5 minutes and Sensor quality</a:t>
            </a:r>
          </a:p>
          <a:p xmlns:a="http://schemas.openxmlformats.org/drawingml/2006/main">
            <a:r>
              <a:t>SCREEN: PPT, then app</a:t>
            </a:r>
          </a:p>
          <a:p xmlns:a="http://schemas.openxmlformats.org/drawingml/2006/main">
            <a:r>
              <a:t>PRESENTER ACTION: Switch to Patient overview when explaining dynamic features. Set Sensor quality to Complete stream. Click Next 5 minutes once while explaining state refresh. Point to the timestamp and forecast. Return to slide 8 at 07:30.</a:t>
            </a:r>
          </a:p>
          <a:p xmlns:a="http://schemas.openxmlformats.org/drawingml/2006/main">
            <a:r>
              <a:t/>
            </a:r>
          </a:p>
          <a:p xmlns:a="http://schemas.openxmlformats.org/drawingml/2006/main">
            <a:r>
              <a:t>NARRATION AND TIMED ACTIONS</a:t>
            </a:r>
          </a:p>
          <a:p xmlns:a="http://schemas.openxmlformats.org/drawingml/2006/main">
            <a:r>
              <a:t>Our Digital Twin is a focused, evolving patient state. It is deliberately limited to the selected glucose-prediction task.</a:t>
            </a:r>
          </a:p>
          <a:p xmlns:a="http://schemas.openxmlformats.org/drawingml/2006/main">
            <a:r>
              <a:t/>
            </a:r>
          </a:p>
          <a:p xmlns:a="http://schemas.openxmlformats.org/drawingml/2006/main">
            <a:r>
              <a:t>There are eighteen numerical features. Historical features include age, body mass index, HbA1c, diagnosis duration and the hypothetical marker.</a:t>
            </a:r>
          </a:p>
          <a:p xmlns:a="http://schemas.openxmlformats.org/drawingml/2006/main">
            <a:r>
              <a:t/>
            </a:r>
          </a:p>
          <a:p xmlns:a="http://schemas.openxmlformats.org/drawingml/2006/main">
            <a:r>
              <a:t>[Switch to Patient overview. Set Sensor quality to Complete stream.]</a:t>
            </a:r>
          </a:p>
          <a:p xmlns:a="http://schemas.openxmlformats.org/drawingml/2006/main">
            <a:r>
              <a:t/>
            </a:r>
          </a:p>
          <a:p xmlns:a="http://schemas.openxmlformats.org/drawingml/2006/main">
            <a:r>
              <a:t>Dynamic features include current glucose, earlier glucose readings, recent average and variability, the thirty-minute slope, sleep, recent steps, heart rate, heart-rate variability and time of day.</a:t>
            </a:r>
          </a:p>
          <a:p xmlns:a="http://schemas.openxmlformats.org/drawingml/2006/main">
            <a:r>
              <a:t/>
            </a:r>
          </a:p>
          <a:p xmlns:a="http://schemas.openxmlformats.org/drawingml/2006/main">
            <a:r>
              <a:t>[Pause 4 seconds. Click Next 5 minutes. Point to the timestamp and refreshed forecast.]</a:t>
            </a:r>
          </a:p>
          <a:p xmlns:a="http://schemas.openxmlformats.org/drawingml/2006/main">
            <a:r>
              <a:t/>
            </a:r>
          </a:p>
          <a:p xmlns:a="http://schemas.openxmlformats.org/drawingml/2006/main">
            <a:r>
              <a:t>Each new simulated five-minute observation refreshes this state and produces another prediction. When recent glucose readings are missing, feature extraction uses available past observations, and the interface identifies the gap.</a:t>
            </a:r>
          </a:p>
          <a:p xmlns:a="http://schemas.openxmlformats.org/drawingml/2006/main">
            <a:r>
              <a:t/>
            </a:r>
          </a:p>
          <a:p xmlns:a="http://schemas.openxmlformats.org/drawingml/2006/main">
            <a:r>
              <a:t>The model is trained across synthetic patients, while its current inputs describe an individual patient. We have not trained a separate personalized model for every person. We also do not simulate the causal effect of changing medication or treatment.</a:t>
            </a:r>
          </a:p>
          <a:p xmlns:a="http://schemas.openxmlformats.org/drawingml/2006/main">
            <a:r>
              <a:t/>
            </a:r>
          </a:p>
          <a:p xmlns:a="http://schemas.openxmlformats.org/drawingml/2006/main">
            <a:r>
              <a:t>[Pause 3 seconds. Advance near 07:30.]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Technical stack and model execution</a:t>
            </a:r>
          </a:p>
          <a:p xmlns:a="http://schemas.openxmlformats.org/drawingml/2006/main">
            <a:r>
              <a:t>RECORDING WINDOW: 07:30 - 08:20 (50 seconds)</a:t>
            </a:r>
          </a:p>
          <a:p xmlns:a="http://schemas.openxmlformats.org/drawingml/2006/main">
            <a:r>
              <a:t>PROTOTYPE FEATURE: Trained model execution</a:t>
            </a:r>
          </a:p>
          <a:p xmlns:a="http://schemas.openxmlformats.org/drawingml/2006/main">
            <a:r>
              <a:t>WHERE: dist/trained-model.json and dist/model.js</a:t>
            </a:r>
          </a:p>
          <a:p xmlns:a="http://schemas.openxmlformats.org/drawingml/2006/main">
            <a:r>
              <a:t>SCREEN: PPT</a:t>
            </a:r>
          </a:p>
          <a:p xmlns:a="http://schemas.openxmlformats.org/drawingml/2006/main">
            <a:r>
              <a:t>PRESENTER ACTION: Keep the technical-stack slide visible. The fitted model file and JavaScript inference code are repository evidence, not separate dashboard tabs. Do not retrain during the recording.</a:t>
            </a:r>
          </a:p>
          <a:p xmlns:a="http://schemas.openxmlformats.org/drawingml/2006/main">
            <a:r>
              <a:t/>
            </a:r>
          </a:p>
          <a:p xmlns:a="http://schemas.openxmlformats.org/drawingml/2006/main">
            <a:r>
              <a:t>NARRATION AND TIMED ACTIONS</a:t>
            </a:r>
          </a:p>
          <a:p xmlns:a="http://schemas.openxmlformats.org/drawingml/2006/main">
            <a:r>
              <a:t>The training pipeline uses Python, NumPy and scikit-learn. The repository pins dependency versions for reproducibility.</a:t>
            </a:r>
          </a:p>
          <a:p xmlns:a="http://schemas.openxmlformats.org/drawingml/2006/main">
            <a:r>
              <a:t/>
            </a:r>
          </a:p>
          <a:p xmlns:a="http://schemas.openxmlformats.org/drawingml/2006/main">
            <a:r>
              <a:t>After fitting the models, we export their parameters, including decision trees and calibration information, to JSON files.</a:t>
            </a:r>
          </a:p>
          <a:p xmlns:a="http://schemas.openxmlformats.org/drawingml/2006/main">
            <a:r>
              <a:t/>
            </a:r>
          </a:p>
          <a:p xmlns:a="http://schemas.openxmlformats.org/drawingml/2006/main">
            <a:r>
              <a:t>[Pause 3 seconds. Point to training, exported artifacts and browser inference.]</a:t>
            </a:r>
          </a:p>
          <a:p xmlns:a="http://schemas.openxmlformats.org/drawingml/2006/main">
            <a:r>
              <a:t/>
            </a:r>
          </a:p>
          <a:p xmlns:a="http://schemas.openxmlformats.org/drawingml/2006/main">
            <a:r>
              <a:t>The frontend uses HTML, CSS, SVG and JavaScript. It extracts features and evaluates the exported models locally in the browser.</a:t>
            </a:r>
          </a:p>
          <a:p xmlns:a="http://schemas.openxmlformats.org/drawingml/2006/main">
            <a:r>
              <a:t/>
            </a:r>
          </a:p>
          <a:p xmlns:a="http://schemas.openxmlformats.org/drawingml/2006/main">
            <a:r>
              <a:t>This means the prototype can run from a static web server without a paid inference service. We also compare the JavaScript outputs with Python outputs to check that the exported model behaves consistently in both environments.</a:t>
            </a:r>
          </a:p>
          <a:p xmlns:a="http://schemas.openxmlformats.org/drawingml/2006/main">
            <a:r>
              <a:t/>
            </a:r>
          </a:p>
          <a:p xmlns:a="http://schemas.openxmlformats.org/drawingml/2006/main">
            <a:r>
              <a:t>[Pause 2 seconds. Advance near 08:20.]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Benchmarking methods</a:t>
            </a:r>
          </a:p>
          <a:p xmlns:a="http://schemas.openxmlformats.org/drawingml/2006/main">
            <a:r>
              <a:t>RECORDING WINDOW: 08:20 - 09:30 (70 seconds)</a:t>
            </a:r>
          </a:p>
          <a:p xmlns:a="http://schemas.openxmlformats.org/drawingml/2006/main">
            <a:r>
              <a:t>PROTOTYPE FEATURE: Model comparison</a:t>
            </a:r>
          </a:p>
          <a:p xmlns:a="http://schemas.openxmlformats.org/drawingml/2006/main">
            <a:r>
              <a:t>WHERE: Model &amp; benchmarks: forecasting and classifier tables</a:t>
            </a:r>
          </a:p>
          <a:p xmlns:a="http://schemas.openxmlformats.org/drawingml/2006/main">
            <a:r>
              <a:t>SCREEN: PPT</a:t>
            </a:r>
          </a:p>
          <a:p xmlns:a="http://schemas.openxmlformats.org/drawingml/2006/main">
            <a:r>
              <a:t>PRESENTER ACTION: Stay on the methods slide and explain the five forecasters and two classifiers. The live tables will be shown during slides 11 and 12.</a:t>
            </a:r>
          </a:p>
          <a:p xmlns:a="http://schemas.openxmlformats.org/drawingml/2006/main">
            <a:r>
              <a:t/>
            </a:r>
          </a:p>
          <a:p xmlns:a="http://schemas.openxmlformats.org/drawingml/2006/main">
            <a:r>
              <a:t>NARRATION AND TIMED ACTIONS</a:t>
            </a:r>
          </a:p>
          <a:p xmlns:a="http://schemas.openxmlformats.org/drawingml/2006/main">
            <a:r>
              <a:t>We evaluated several methods rather than assuming that one algorithm would be best.</a:t>
            </a:r>
          </a:p>
          <a:p xmlns:a="http://schemas.openxmlformats.org/drawingml/2006/main">
            <a:r>
              <a:t/>
            </a:r>
          </a:p>
          <a:p xmlns:a="http://schemas.openxmlformats.org/drawingml/2006/main">
            <a:r>
              <a:t>For glucose forecasting, persistence uses the latest reading as the future prediction. Linear trend extends the recent slope. These give us simple reference points.</a:t>
            </a:r>
          </a:p>
          <a:p xmlns:a="http://schemas.openxmlformats.org/drawingml/2006/main">
            <a:r>
              <a:t/>
            </a:r>
          </a:p>
          <a:p xmlns:a="http://schemas.openxmlformats.org/drawingml/2006/main">
            <a:r>
              <a:t>The learned candidates are ridge regression, random forest and gradient boosting. We select the deployed forecasting model using validation mean absolute error.</a:t>
            </a:r>
          </a:p>
          <a:p xmlns:a="http://schemas.openxmlformats.org/drawingml/2006/main">
            <a:r>
              <a:t/>
            </a:r>
          </a:p>
          <a:p xmlns:a="http://schemas.openxmlformats.org/drawingml/2006/main">
            <a:r>
              <a:t>[Pause 4 seconds. Point across the five forecasting methods.]</a:t>
            </a:r>
          </a:p>
          <a:p xmlns:a="http://schemas.openxmlformats.org/drawingml/2006/main">
            <a:r>
              <a:t/>
            </a:r>
          </a:p>
          <a:p xmlns:a="http://schemas.openxmlformats.org/drawingml/2006/main">
            <a:r>
              <a:t>For event warnings, we compare logistic regression with a random forest classifier. We select the classifier and raw alert cutoff using validation F-two, which gives more weight to catching events than to precision.</a:t>
            </a:r>
          </a:p>
          <a:p xmlns:a="http://schemas.openxmlformats.org/drawingml/2006/main">
            <a:r>
              <a:t/>
            </a:r>
          </a:p>
          <a:p xmlns:a="http://schemas.openxmlformats.org/drawingml/2006/main">
            <a:r>
              <a:t>A separate calibration cohort maps raw scores to the displayed risk scale. The final test cohort reports performance after these choices are fixed.</a:t>
            </a:r>
          </a:p>
          <a:p xmlns:a="http://schemas.openxmlformats.org/drawingml/2006/main">
            <a:r>
              <a:t/>
            </a:r>
          </a:p>
          <a:p xmlns:a="http://schemas.openxmlformats.org/drawingml/2006/main">
            <a:r>
              <a:t>This separation matters: selecting a model using the final test results would give an overly optimistic evaluation.</a:t>
            </a:r>
          </a:p>
          <a:p xmlns:a="http://schemas.openxmlformats.org/drawingml/2006/main">
            <a:r>
              <a:t/>
            </a:r>
          </a:p>
          <a:p xmlns:a="http://schemas.openxmlformats.org/drawingml/2006/main">
            <a:r>
              <a:t>[Pause 3 seconds. Advance near 09:30.]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Evaluation without patient overlap</a:t>
            </a:r>
          </a:p>
          <a:p xmlns:a="http://schemas.openxmlformats.org/drawingml/2006/main">
            <a:r>
              <a:t>RECORDING WINDOW: 09:30 - 10:40 (70 seconds)</a:t>
            </a:r>
          </a:p>
          <a:p xmlns:a="http://schemas.openxmlformats.org/drawingml/2006/main">
            <a:r>
              <a:t>PROTOTYPE FEATURE: Patient-separated evaluation</a:t>
            </a:r>
          </a:p>
          <a:p xmlns:a="http://schemas.openxmlformats.org/drawingml/2006/main">
            <a:r>
              <a:t>WHERE: Model &amp; benchmarks: How the evaluation is protected</a:t>
            </a:r>
          </a:p>
          <a:p xmlns:a="http://schemas.openxmlformats.org/drawingml/2006/main">
            <a:r>
              <a:t>SCREEN: PPT</a:t>
            </a:r>
          </a:p>
          <a:p xmlns:a="http://schemas.openxmlformats.org/drawingml/2006/main">
            <a:r>
              <a:t>PRESENTER ACTION: Keep the cohort table visible. Map it to How the evaluation is protected in the app. Do not imply that the displayed patient selector lists all 90 generated profiles.</a:t>
            </a:r>
          </a:p>
          <a:p xmlns:a="http://schemas.openxmlformats.org/drawingml/2006/main">
            <a:r>
              <a:t/>
            </a:r>
          </a:p>
          <a:p xmlns:a="http://schemas.openxmlformats.org/drawingml/2006/main">
            <a:r>
              <a:t>NARRATION AND TIMED ACTIONS</a:t>
            </a:r>
          </a:p>
          <a:p xmlns:a="http://schemas.openxmlformats.org/drawingml/2006/main">
            <a:r>
              <a:t>Our main split separates patients, rather than mixing random rows from the same person across training and testing.</a:t>
            </a:r>
          </a:p>
          <a:p xmlns:a="http://schemas.openxmlformats.org/drawingml/2006/main">
            <a:r>
              <a:t/>
            </a:r>
          </a:p>
          <a:p xmlns:a="http://schemas.openxmlformats.org/drawingml/2006/main">
            <a:r>
              <a:t>Fifty-four patients form the training group. Twelve different patients support model selection, another twelve support calibration, and the final twelve are held out for testing.</a:t>
            </a:r>
          </a:p>
          <a:p xmlns:a="http://schemas.openxmlformats.org/drawingml/2006/main">
            <a:r>
              <a:t/>
            </a:r>
          </a:p>
          <a:p xmlns:a="http://schemas.openxmlformats.org/drawingml/2006/main">
            <a:r>
              <a:t>[Pause 4 seconds. Point to each cohort in order.]</a:t>
            </a:r>
          </a:p>
          <a:p xmlns:a="http://schemas.openxmlformats.org/drawingml/2006/main">
            <a:r>
              <a:t/>
            </a:r>
          </a:p>
          <a:p xmlns:a="http://schemas.openxmlformats.org/drawingml/2006/main">
            <a:r>
              <a:t>On the test patients, we make forecasts every thirty minutes. Each target is the actual observation one hundred and twenty minutes after its forecast time. That produces four thousand, four hundred and sixteen test forecasts.</a:t>
            </a:r>
          </a:p>
          <a:p xmlns:a="http://schemas.openxmlformats.org/drawingml/2006/main">
            <a:r>
              <a:t/>
            </a:r>
          </a:p>
          <a:p xmlns:a="http://schemas.openxmlformats.org/drawingml/2006/main">
            <a:r>
              <a:t>Automated checks confirm that predictions use available history and that targets match the later observations.</a:t>
            </a:r>
          </a:p>
          <a:p xmlns:a="http://schemas.openxmlformats.org/drawingml/2006/main">
            <a:r>
              <a:t/>
            </a:r>
          </a:p>
          <a:p xmlns:a="http://schemas.openxmlformats.org/drawingml/2006/main">
            <a:r>
              <a:t>Nearby forecasting windows overlap, so they are correlated. We therefore describe the results as forecast windows rather than independent clinical episodes. For uncertainty in average error, we resample patients instead of treating every row as independent.</a:t>
            </a:r>
          </a:p>
          <a:p xmlns:a="http://schemas.openxmlformats.org/drawingml/2006/main">
            <a:r>
              <a:t/>
            </a:r>
          </a:p>
          <a:p xmlns:a="http://schemas.openxmlformats.org/drawingml/2006/main">
            <a:r>
              <a:t>[Pause 3 seconds. Advance near 10:40.]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Glucose forecast results</a:t>
            </a:r>
          </a:p>
          <a:p xmlns:a="http://schemas.openxmlformats.org/drawingml/2006/main">
            <a:r>
              <a:t>RECORDING WINDOW: 10:40 - 12:00 (80 seconds)</a:t>
            </a:r>
          </a:p>
          <a:p xmlns:a="http://schemas.openxmlformats.org/drawingml/2006/main">
            <a:r>
              <a:t>PROTOTYPE FEATURE: Forecast benchmark results</a:t>
            </a:r>
          </a:p>
          <a:p xmlns:a="http://schemas.openxmlformats.org/drawingml/2006/main">
            <a:r>
              <a:t>WHERE: Model &amp; benchmarks: Five forecasting methods, tested on the same patients</a:t>
            </a:r>
          </a:p>
          <a:p xmlns:a="http://schemas.openxmlformats.org/drawingml/2006/main">
            <a:r>
              <a:t>SCREEN: PPT, then app</a:t>
            </a:r>
          </a:p>
          <a:p xmlns:a="http://schemas.openxmlformats.org/drawingml/2006/main">
            <a:r>
              <a:t>PRESENTER ACTION: After introducing the comparison, switch to Model &amp; benchmarks. Keep the forecasting table visible while explaining MAE and RMSE. Return to slide 12 at 12:00.</a:t>
            </a:r>
          </a:p>
          <a:p xmlns:a="http://schemas.openxmlformats.org/drawingml/2006/main">
            <a:r>
              <a:t/>
            </a:r>
          </a:p>
          <a:p xmlns:a="http://schemas.openxmlformats.org/drawingml/2006/main">
            <a:r>
              <a:t>NARRATION AND TIMED ACTIONS</a:t>
            </a:r>
          </a:p>
          <a:p xmlns:a="http://schemas.openxmlformats.org/drawingml/2006/main">
            <a:r>
              <a:t>This table compares the forecasting methods on the same held-out synthetic patients.</a:t>
            </a:r>
          </a:p>
          <a:p xmlns:a="http://schemas.openxmlformats.org/drawingml/2006/main">
            <a:r>
              <a:t/>
            </a:r>
          </a:p>
          <a:p xmlns:a="http://schemas.openxmlformats.org/drawingml/2006/main">
            <a:r>
              <a:t>[Open Model &amp; benchmarks. Show Five forecasting methods, tested on the same patients. Continue the explanation over the live table.]</a:t>
            </a:r>
          </a:p>
          <a:p xmlns:a="http://schemas.openxmlformats.org/drawingml/2006/main">
            <a:r>
              <a:t/>
            </a:r>
          </a:p>
          <a:p xmlns:a="http://schemas.openxmlformats.org/drawingml/2006/main">
            <a:r>
              <a:t>The deployed random forest achieves a mean absolute error of ten point zero four milligrams per decilitre. Its root mean squared error is fourteen point zero three.</a:t>
            </a:r>
          </a:p>
          <a:p xmlns:a="http://schemas.openxmlformats.org/drawingml/2006/main">
            <a:r>
              <a:t/>
            </a:r>
          </a:p>
          <a:p xmlns:a="http://schemas.openxmlformats.org/drawingml/2006/main">
            <a:r>
              <a:t>Mean absolute error measures the average size of a prediction mistake. Root mean squared error gives larger mistakes more weight.</a:t>
            </a:r>
          </a:p>
          <a:p xmlns:a="http://schemas.openxmlformats.org/drawingml/2006/main">
            <a:r>
              <a:t/>
            </a:r>
          </a:p>
          <a:p xmlns:a="http://schemas.openxmlformats.org/drawingml/2006/main">
            <a:r>
              <a:t>[Pause 4 seconds. Point to the random forest row and the two error columns.]</a:t>
            </a:r>
          </a:p>
          <a:p xmlns:a="http://schemas.openxmlformats.org/drawingml/2006/main">
            <a:r>
              <a:t/>
            </a:r>
          </a:p>
          <a:p xmlns:a="http://schemas.openxmlformats.org/drawingml/2006/main">
            <a:r>
              <a:t>Persistence has an average absolute error of about twenty-five point six. Linear trend reaches about forty-five point nine. Extending a recent slope can fail when the glucose trajectory changes direction over the next two hours.</a:t>
            </a:r>
          </a:p>
          <a:p xmlns:a="http://schemas.openxmlformats.org/drawingml/2006/main">
            <a:r>
              <a:t/>
            </a:r>
          </a:p>
          <a:p xmlns:a="http://schemas.openxmlformats.org/drawingml/2006/main">
            <a:r>
              <a:t>Ridge regression reaches about fourteen point four, while gradient boosting reaches about ten point three. Random forest also had the lowest validation error, which is why it was selected for deployment.</a:t>
            </a:r>
          </a:p>
          <a:p xmlns:a="http://schemas.openxmlformats.org/drawingml/2006/main">
            <a:r>
              <a:t/>
            </a:r>
          </a:p>
          <a:p xmlns:a="http://schemas.openxmlformats.org/drawingml/2006/main">
            <a:r>
              <a:t>These values describe this synthetic dataset and this two-hour endpoint. They do not measure performance in real patients. Event warnings require a separate evaluation, which comes next.</a:t>
            </a:r>
          </a:p>
          <a:p xmlns:a="http://schemas.openxmlformats.org/drawingml/2006/main">
            <a:r>
              <a:t/>
            </a:r>
          </a:p>
          <a:p xmlns:a="http://schemas.openxmlformats.org/drawingml/2006/main">
            <a:r>
              <a:t>[Pause 3 seconds. Advance near 12:00.]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Spike detection and false alarms</a:t>
            </a:r>
          </a:p>
          <a:p xmlns:a="http://schemas.openxmlformats.org/drawingml/2006/main">
            <a:r>
              <a:t>RECORDING WINDOW: 12:00 - 13:20 (80 seconds)</a:t>
            </a:r>
          </a:p>
          <a:p xmlns:a="http://schemas.openxmlformats.org/drawingml/2006/main">
            <a:r>
              <a:t>PROTOTYPE FEATURE: Alert performance</a:t>
            </a:r>
          </a:p>
          <a:p xmlns:a="http://schemas.openxmlformats.org/drawingml/2006/main">
            <a:r>
              <a:t>WHERE: Model &amp; benchmarks: Dedicated two-hour spike-risk classifiers</a:t>
            </a:r>
          </a:p>
          <a:p xmlns:a="http://schemas.openxmlformats.org/drawingml/2006/main">
            <a:r>
              <a:t>SCREEN: PPT, then app</a:t>
            </a:r>
          </a:p>
          <a:p xmlns:a="http://schemas.openxmlformats.org/drawingml/2006/main">
            <a:r>
              <a:t>PRESENTER ACTION: After the first paragraph, show Dedicated two-hour spike-risk classifiers in Model &amp; benchmarks. Use that table for classifier recall and precision, not the point-forecast threshold columns in the forecasting table. Scroll to Every alert has an outcome for confusion counts if needed. Return to slide 13 at 13:20.</a:t>
            </a:r>
          </a:p>
          <a:p xmlns:a="http://schemas.openxmlformats.org/drawingml/2006/main">
            <a:r>
              <a:t/>
            </a:r>
          </a:p>
          <a:p xmlns:a="http://schemas.openxmlformats.org/drawingml/2006/main">
            <a:r>
              <a:t>NARRATION AND TIMED ACTIONS</a:t>
            </a:r>
          </a:p>
          <a:p xmlns:a="http://schemas.openxmlformats.org/drawingml/2006/main">
            <a:r>
              <a:t>For the event task, the selected random forest classifier catches seventy-one point three percent of the defined new events. That is recall.</a:t>
            </a:r>
          </a:p>
          <a:p xmlns:a="http://schemas.openxmlformats.org/drawingml/2006/main">
            <a:r>
              <a:t/>
            </a:r>
          </a:p>
          <a:p xmlns:a="http://schemas.openxmlformats.org/drawingml/2006/main">
            <a:r>
              <a:t>[In Model &amp; benchmarks, scroll to Dedicated two-hour spike-risk classifiers. Continue over this classifier table.]</a:t>
            </a:r>
          </a:p>
          <a:p xmlns:a="http://schemas.openxmlformats.org/drawingml/2006/main">
            <a:r>
              <a:t/>
            </a:r>
          </a:p>
          <a:p xmlns:a="http://schemas.openxmlformats.org/drawingml/2006/main">
            <a:r>
              <a:t>Its precision is thirty-five point three percent. In other words, about thirty-five out of every hundred alerts are correct in this synthetic test.</a:t>
            </a:r>
          </a:p>
          <a:p xmlns:a="http://schemas.openxmlformats.org/drawingml/2006/main">
            <a:r>
              <a:t/>
            </a:r>
          </a:p>
          <a:p xmlns:a="http://schemas.openxmlformats.org/drawingml/2006/main">
            <a:r>
              <a:t>[Pause 4 seconds. Point to recall and precision separately.]</a:t>
            </a:r>
          </a:p>
          <a:p xmlns:a="http://schemas.openxmlformats.org/drawingml/2006/main">
            <a:r>
              <a:t/>
            </a:r>
          </a:p>
          <a:p xmlns:a="http://schemas.openxmlformats.org/drawingml/2006/main">
            <a:r>
              <a:t>The confusion counts are two hundred and eleven correct warnings, three hundred and eighty-six false alarms, eighty-five missed events, and three thousand, four hundred and forty-four correct non-alerts.</a:t>
            </a:r>
          </a:p>
          <a:p xmlns:a="http://schemas.openxmlformats.org/drawingml/2006/main">
            <a:r>
              <a:t/>
            </a:r>
          </a:p>
          <a:p xmlns:a="http://schemas.openxmlformats.org/drawingml/2006/main">
            <a:r>
              <a:t>Logistic regression catches about seventy-eight percent, but has lower precision. We retain random forest because it won the validation selection criterion; we do not change the winner after seeing test results.</a:t>
            </a:r>
          </a:p>
          <a:p xmlns:a="http://schemas.openxmlformats.org/drawingml/2006/main">
            <a:r>
              <a:t/>
            </a:r>
          </a:p>
          <a:p xmlns:a="http://schemas.openxmlformats.org/drawingml/2006/main">
            <a:r>
              <a:t>The chosen warning setting favours catching events and accepts substantial false alarms. Reporting only recall would hide that burden. This is a functioning warning experiment, but its mistakes clearly show why clinical validation and workload assessment would be necessary.</a:t>
            </a:r>
          </a:p>
          <a:p xmlns:a="http://schemas.openxmlformats.org/drawingml/2006/main">
            <a:r>
              <a:t/>
            </a:r>
          </a:p>
          <a:p xmlns:a="http://schemas.openxmlformats.org/drawingml/2006/main">
            <a:r>
              <a:t>[Pause 3 seconds. Advance near 13:20.]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Fusion and robustness checks</a:t>
            </a:r>
          </a:p>
          <a:p xmlns:a="http://schemas.openxmlformats.org/drawingml/2006/main">
            <a:r>
              <a:t>RECORDING WINDOW: 13:20 - 14:25 (65 seconds)</a:t>
            </a:r>
          </a:p>
          <a:p xmlns:a="http://schemas.openxmlformats.org/drawingml/2006/main">
            <a:r>
              <a:t>PROTOTYPE FEATURE: Fusion and sensor robustness</a:t>
            </a:r>
          </a:p>
          <a:p xmlns:a="http://schemas.openxmlformats.org/drawingml/2006/main">
            <a:r>
              <a:t>WHERE: Model &amp; benchmarks: Does combining both streams help? and imperfect sensors</a:t>
            </a:r>
          </a:p>
          <a:p xmlns:a="http://schemas.openxmlformats.org/drawingml/2006/main">
            <a:r>
              <a:t>SCREEN: PPT</a:t>
            </a:r>
          </a:p>
          <a:p xmlns:a="http://schemas.openxmlformats.org/drawingml/2006/main">
            <a:r>
              <a:t>PRESENTER ACTION: Keep the ablation slide visible and point to its three rows. These match Does combining both streams help? in the app. The adjacent imperfect-sensor section is a regression stress test. The interactive gap is demonstrated on slide 15.</a:t>
            </a:r>
          </a:p>
          <a:p xmlns:a="http://schemas.openxmlformats.org/drawingml/2006/main">
            <a:r>
              <a:t/>
            </a:r>
          </a:p>
          <a:p xmlns:a="http://schemas.openxmlformats.org/drawingml/2006/main">
            <a:r>
              <a:t>NARRATION AND TIMED ACTIONS</a:t>
            </a:r>
          </a:p>
          <a:p xmlns:a="http://schemas.openxmlformats.org/drawingml/2006/main">
            <a:r>
              <a:t>We also tested whether combining the streams helps.</a:t>
            </a:r>
          </a:p>
          <a:p xmlns:a="http://schemas.openxmlformats.org/drawingml/2006/main">
            <a:r>
              <a:t/>
            </a:r>
          </a:p>
          <a:p xmlns:a="http://schemas.openxmlformats.org/drawingml/2006/main">
            <a:r>
              <a:t>Using both streams, the selected regressor has an average absolute error of ten point zero four. Using EHR features alone gives nineteen point two five. Wearable features alone give ten point two five.</a:t>
            </a:r>
          </a:p>
          <a:p xmlns:a="http://schemas.openxmlformats.org/drawingml/2006/main">
            <a:r>
              <a:t/>
            </a:r>
          </a:p>
          <a:p xmlns:a="http://schemas.openxmlformats.org/drawingml/2006/main">
            <a:r>
              <a:t>[Pause 4 seconds. Point to all three ablation results.]</a:t>
            </a:r>
          </a:p>
          <a:p xmlns:a="http://schemas.openxmlformats.org/drawingml/2006/main">
            <a:r>
              <a:t/>
            </a:r>
          </a:p>
          <a:p xmlns:a="http://schemas.openxmlformats.org/drawingml/2006/main">
            <a:r>
              <a:t>Fusion improves the result, but the gain over wearables alone is modest. The dynamic glucose history carries much of the predictive information in this simulation.</a:t>
            </a:r>
          </a:p>
          <a:p xmlns:a="http://schemas.openxmlformats.org/drawingml/2006/main">
            <a:r>
              <a:t/>
            </a:r>
          </a:p>
          <a:p xmlns:a="http://schemas.openxmlformats.org/drawingml/2006/main">
            <a:r>
              <a:t>Additional checks include patient-group cross-validation, a chronological holdout, sensor gaps, sensor noise and subgroup diagnostics. A separately calibrated prediction band covers about eighty-nine point seven percent of test outcomes.</a:t>
            </a:r>
          </a:p>
          <a:p xmlns:a="http://schemas.openxmlformats.org/drawingml/2006/main">
            <a:r>
              <a:t/>
            </a:r>
          </a:p>
          <a:p xmlns:a="http://schemas.openxmlformats.org/drawingml/2006/main">
            <a:r>
              <a:t>These checks examine different weaknesses. They improve the transparency of the experiment, but neither synthetic stress tests nor prediction-band coverage establishes clinical safety.</a:t>
            </a:r>
          </a:p>
          <a:p xmlns:a="http://schemas.openxmlformats.org/drawingml/2006/main">
            <a:r>
              <a:t/>
            </a:r>
          </a:p>
          <a:p xmlns:a="http://schemas.openxmlformats.org/drawingml/2006/main">
            <a:r>
              <a:t>[Pause 3 seconds. Advance near 14:25.]</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Clinician dashboard</a:t>
            </a:r>
          </a:p>
          <a:p xmlns:a="http://schemas.openxmlformats.org/drawingml/2006/main">
            <a:r>
              <a:t>RECORDING WINDOW: 14:25 - 15:15 (50 seconds)</a:t>
            </a:r>
          </a:p>
          <a:p xmlns:a="http://schemas.openxmlformats.org/drawingml/2006/main">
            <a:r>
              <a:t>PROTOTYPE FEATURE: Doctor interaction</a:t>
            </a:r>
          </a:p>
          <a:p xmlns:a="http://schemas.openxmlformats.org/drawingml/2006/main">
            <a:r>
              <a:t>WHERE: Patient overview: trajectory, source cards and replay controls</a:t>
            </a:r>
          </a:p>
          <a:p xmlns:a="http://schemas.openxmlformats.org/drawingml/2006/main">
            <a:r>
              <a:t>SCREEN: PPT, then app</a:t>
            </a:r>
          </a:p>
          <a:p xmlns:a="http://schemas.openxmlformats.org/drawingml/2006/main">
            <a:r>
              <a:t>PRESENTER ACTION: After the first sentence, switch to Patient overview. Point to the trajectory and scroll to Patient baseline and Wearable signals. Leave Sensor quality at Complete stream. Briefly show slide 15 at 15:15, then return to the app for the timed demo.</a:t>
            </a:r>
          </a:p>
          <a:p xmlns:a="http://schemas.openxmlformats.org/drawingml/2006/main">
            <a:r>
              <a:t/>
            </a:r>
          </a:p>
          <a:p xmlns:a="http://schemas.openxmlformats.org/drawingml/2006/main">
            <a:r>
              <a:t>NARRATION AND TIMED ACTIONS</a:t>
            </a:r>
          </a:p>
          <a:p xmlns:a="http://schemas.openxmlformats.org/drawingml/2006/main">
            <a:r>
              <a:t>The dashboard brings the virtual patient and predictions into one inspection workflow.</a:t>
            </a:r>
          </a:p>
          <a:p xmlns:a="http://schemas.openxmlformats.org/drawingml/2006/main">
            <a:r>
              <a:t/>
            </a:r>
          </a:p>
          <a:p xmlns:a="http://schemas.openxmlformats.org/drawingml/2006/main">
            <a:r>
              <a:t>[Open Patient overview. Point to the trajectory, then scroll to Patient baseline and Wearable signals.]</a:t>
            </a:r>
          </a:p>
          <a:p xmlns:a="http://schemas.openxmlformats.org/drawingml/2006/main">
            <a:r>
              <a:t/>
            </a:r>
          </a:p>
          <a:p xmlns:a="http://schemas.openxmlformats.org/drawingml/2006/main">
            <a:r>
              <a:t>The doctor can select a patient, inspect historical information, review current measurements, and see the two-hour forecast and event warning.</a:t>
            </a:r>
          </a:p>
          <a:p xmlns:a="http://schemas.openxmlformats.org/drawingml/2006/main">
            <a:r>
              <a:t/>
            </a:r>
          </a:p>
          <a:p xmlns:a="http://schemas.openxmlformats.org/drawingml/2006/main">
            <a:r>
              <a:t>[Pause 3 seconds. Point to the forecast and trajectory.]</a:t>
            </a:r>
          </a:p>
          <a:p xmlns:a="http://schemas.openxmlformats.org/drawingml/2006/main">
            <a:r>
              <a:t/>
            </a:r>
          </a:p>
          <a:p xmlns:a="http://schemas.openxmlformats.org/drawingml/2006/main">
            <a:r>
              <a:t>The chart shows observed history and a line to the predicted endpoint. That connecting line is interpolation, rather than a separate prediction for every future minute.</a:t>
            </a:r>
          </a:p>
          <a:p xmlns:a="http://schemas.openxmlformats.org/drawingml/2006/main">
            <a:r>
              <a:t/>
            </a:r>
          </a:p>
          <a:p xmlns:a="http://schemas.openxmlformats.org/drawingml/2006/main">
            <a:r>
              <a:t>The doctor can also inspect the data streams, move through simulated time, test a sensor gap, and reveal the actual later outcome. Next, I will test saved predictions and show both successes and errors.</a:t>
            </a:r>
          </a:p>
          <a:p xmlns:a="http://schemas.openxmlformats.org/drawingml/2006/main">
            <a:r>
              <a:t/>
            </a:r>
          </a:p>
          <a:p xmlns:a="http://schemas.openxmlformats.org/drawingml/2006/main">
            <a:r>
              <a:t>[Pause 2 seconds. Briefly show slide 15 at 15:15, then return to the app.]</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Live prototype demonstration</a:t>
            </a:r>
          </a:p>
          <a:p xmlns:a="http://schemas.openxmlformats.org/drawingml/2006/main">
            <a:r>
              <a:t>RECORDING WINDOW: 15:15 - 17:15 (120 seconds)</a:t>
            </a:r>
          </a:p>
          <a:p xmlns:a="http://schemas.openxmlformats.org/drawingml/2006/main">
            <a:r>
              <a:t>PROTOTYPE FEATURE: End-to-end test</a:t>
            </a:r>
          </a:p>
          <a:p xmlns:a="http://schemas.openxmlformats.org/drawingml/2006/main">
            <a:r>
              <a:t>WHERE: Data streams, measured examples, outcome reveal, sensor gap and export</a:t>
            </a:r>
          </a:p>
          <a:p xmlns:a="http://schemas.openxmlformats.org/drawingml/2006/main">
            <a:r>
              <a:t>SCREEN: APP</a:t>
            </a:r>
          </a:p>
          <a:p xmlns:a="http://schemas.openxmlformats.org/drawingml/2006/main">
            <a:r>
              <a:t>PRESENTER ACTION: Follow the five timed steps in this section. Show a prediction before revealing its future observation. Demonstrate correct warning, false alarm and missed event. Return to slide 16 at 17:15.</a:t>
            </a:r>
          </a:p>
          <a:p xmlns:a="http://schemas.openxmlformats.org/drawingml/2006/main">
            <a:r>
              <a:t/>
            </a:r>
          </a:p>
          <a:p xmlns:a="http://schemas.openxmlformats.org/drawingml/2006/main">
            <a:r>
              <a:t>NARRATION AND TIMED ACTIONS</a:t>
            </a:r>
          </a:p>
          <a:p xmlns:a="http://schemas.openxmlformats.org/drawingml/2006/main">
            <a:r>
              <a:t>15:15–15:35 — Show the two inputs</a:t>
            </a:r>
          </a:p>
          <a:p xmlns:a="http://schemas.openxmlformats.org/drawingml/2006/main">
            <a:r>
              <a:t/>
            </a:r>
          </a:p>
          <a:p xmlns:a="http://schemas.openxmlformats.org/drawingml/2006/main">
            <a:r>
              <a:t>[Reset Sensor quality to Complete stream. Choose Ananya Sharma, or the patient rehearsed beforehand. Open Data streams.]</a:t>
            </a:r>
          </a:p>
          <a:p xmlns:a="http://schemas.openxmlformats.org/drawingml/2006/main">
            <a:r>
              <a:t/>
            </a:r>
          </a:p>
          <a:p xmlns:a="http://schemas.openxmlformats.org/drawingml/2006/main">
            <a:r>
              <a:t>Here are the two inputs for one synthetic patient. The EHR provides historical context. The sensor stream supplies changing observations. They share a patient ID and contribute to the same feature state.</a:t>
            </a:r>
          </a:p>
          <a:p xmlns:a="http://schemas.openxmlformats.org/drawingml/2006/main">
            <a:r>
              <a:t/>
            </a:r>
          </a:p>
          <a:p xmlns:a="http://schemas.openxmlformats.org/drawingml/2006/main">
            <a:r>
              <a:t>[Pause 3 seconds while pointing to the two payloads.]</a:t>
            </a:r>
          </a:p>
          <a:p xmlns:a="http://schemas.openxmlformats.org/drawingml/2006/main">
            <a:r>
              <a:t/>
            </a:r>
          </a:p>
          <a:p xmlns:a="http://schemas.openxmlformats.org/drawingml/2006/main">
            <a:r>
              <a:t>15:35–16:00 — Predict first, reveal second</a:t>
            </a:r>
          </a:p>
          <a:p xmlns:a="http://schemas.openxmlformats.org/drawingml/2006/main">
            <a:r>
              <a:t/>
            </a:r>
          </a:p>
          <a:p xmlns:a="http://schemas.openxmlformats.org/drawingml/2006/main">
            <a:r>
              <a:t>[Return to Patient overview. Choose Correctly predicted spike. Point to the issued forecast and risk before revealing.]</a:t>
            </a:r>
          </a:p>
          <a:p xmlns:a="http://schemas.openxmlformats.org/drawingml/2006/main">
            <a:r>
              <a:t/>
            </a:r>
          </a:p>
          <a:p xmlns:a="http://schemas.openxmlformats.org/drawingml/2006/main">
            <a:r>
              <a:t>This is a measured test example. The model has already issued its prediction using only available history. Notice that the numerical forecast and the event warning are different outputs. Now I will reveal the actual later reading.</a:t>
            </a:r>
          </a:p>
          <a:p xmlns:a="http://schemas.openxmlformats.org/drawingml/2006/main">
            <a:r>
              <a:t/>
            </a:r>
          </a:p>
          <a:p xmlns:a="http://schemas.openxmlformats.org/drawingml/2006/main">
            <a:r>
              <a:t>[Click Reveal actual outcome. Pause 3 seconds; point to the observed value and outcome label.]</a:t>
            </a:r>
          </a:p>
          <a:p xmlns:a="http://schemas.openxmlformats.org/drawingml/2006/main">
            <a:r>
              <a:t/>
            </a:r>
          </a:p>
          <a:p xmlns:a="http://schemas.openxmlformats.org/drawingml/2006/main">
            <a:r>
              <a:t>16:00–16:25 — Show a false alarm</a:t>
            </a:r>
          </a:p>
          <a:p xmlns:a="http://schemas.openxmlformats.org/drawingml/2006/main">
            <a:r>
              <a:t/>
            </a:r>
          </a:p>
          <a:p xmlns:a="http://schemas.openxmlformats.org/drawingml/2006/main">
            <a:r>
              <a:t>[Choose False alarm. Inspect the prediction, then reveal.]</a:t>
            </a:r>
          </a:p>
          <a:p xmlns:a="http://schemas.openxmlformats.org/drawingml/2006/main">
            <a:r>
              <a:t/>
            </a:r>
          </a:p>
          <a:p xmlns:a="http://schemas.openxmlformats.org/drawingml/2006/main">
            <a:r>
              <a:t>Here, the model warns, but the later observation does not meet our event definition. This is a false alarm. We expose these cases because they contribute to the precision and workload problem shown in the benchmark results.</a:t>
            </a:r>
          </a:p>
          <a:p xmlns:a="http://schemas.openxmlformats.org/drawingml/2006/main">
            <a:r>
              <a:t/>
            </a:r>
          </a:p>
          <a:p xmlns:a="http://schemas.openxmlformats.org/drawingml/2006/main">
            <a:r>
              <a:t>[Pause 3 seconds to show the result.]</a:t>
            </a:r>
          </a:p>
          <a:p xmlns:a="http://schemas.openxmlformats.org/drawingml/2006/main">
            <a:r>
              <a:t/>
            </a:r>
          </a:p>
          <a:p xmlns:a="http://schemas.openxmlformats.org/drawingml/2006/main">
            <a:r>
              <a:t>16:25–16:45 — Show a missed event</a:t>
            </a:r>
          </a:p>
          <a:p xmlns:a="http://schemas.openxmlformats.org/drawingml/2006/main">
            <a:r>
              <a:t/>
            </a:r>
          </a:p>
          <a:p xmlns:a="http://schemas.openxmlformats.org/drawingml/2006/main">
            <a:r>
              <a:t>[Choose Missed spike, then reveal.]</a:t>
            </a:r>
          </a:p>
          <a:p xmlns:a="http://schemas.openxmlformats.org/drawingml/2006/main">
            <a:r>
              <a:t/>
            </a:r>
          </a:p>
          <a:p xmlns:a="http://schemas.openxmlformats.org/drawingml/2006/main">
            <a:r>
              <a:t>This example goes the other way: the actual later value meets the event definition, but the classifier does not warn. These selected examples illustrate behaviour; the aggregate scores include every test window.</a:t>
            </a:r>
          </a:p>
          <a:p xmlns:a="http://schemas.openxmlformats.org/drawingml/2006/main">
            <a:r>
              <a:t/>
            </a:r>
          </a:p>
          <a:p xmlns:a="http://schemas.openxmlformats.org/drawingml/2006/main">
            <a:r>
              <a:t>[Pause 3 seconds while pointing to the missed-event label.]</a:t>
            </a:r>
          </a:p>
          <a:p xmlns:a="http://schemas.openxmlformats.org/drawingml/2006/main">
            <a:r>
              <a:t/>
            </a:r>
          </a:p>
          <a:p xmlns:a="http://schemas.openxmlformats.org/drawingml/2006/main">
            <a:r>
              <a:t>16:45–17:15 — Update state and export</a:t>
            </a:r>
          </a:p>
          <a:p xmlns:a="http://schemas.openxmlformats.org/drawingml/2006/main">
            <a:r>
              <a:t/>
            </a:r>
          </a:p>
          <a:p xmlns:a="http://schemas.openxmlformats.org/drawingml/2006/main">
            <a:r>
              <a:t>[Click Next 5 minutes. Change Sensor quality to 30-minute CGM gap. Point to the updated state, then click Export snapshot. If time remains, open Model &amp; benchmarks. Finish the current action before switching back.]</a:t>
            </a:r>
          </a:p>
          <a:p xmlns:a="http://schemas.openxmlformats.org/drawingml/2006/main">
            <a:r>
              <a:t/>
            </a:r>
          </a:p>
          <a:p xmlns:a="http://schemas.openxmlformats.org/drawingml/2006/main">
            <a:r>
              <a:t>Advancing time updates the virtual patient and runs inference again. The gap control illustrates missing sensor input. We can export the current snapshot for inspection, and the benchmark view exposes the evaluation evidence behind the interface.</a:t>
            </a:r>
          </a:p>
          <a:p xmlns:a="http://schemas.openxmlformats.org/drawingml/2006/main">
            <a:r>
              <a:t/>
            </a:r>
          </a:p>
          <a:p xmlns:a="http://schemas.openxmlformats.org/drawingml/2006/main">
            <a:r>
              <a:t>[Let the state update and export complete. Return to slide 16 near 17:15.]</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Limitations and research next steps</a:t>
            </a:r>
          </a:p>
          <a:p xmlns:a="http://schemas.openxmlformats.org/drawingml/2006/main">
            <a:r>
              <a:t>RECORDING WINDOW: 17:15 - 18:20 (65 seconds)</a:t>
            </a:r>
          </a:p>
          <a:p xmlns:a="http://schemas.openxmlformats.org/drawingml/2006/main">
            <a:r>
              <a:t>PROTOTYPE FEATURE: Research boundaries</a:t>
            </a:r>
          </a:p>
          <a:p xmlns:a="http://schemas.openxmlformats.org/drawingml/2006/main">
            <a:r>
              <a:t>WHERE: Synthetic-data notice, false alarms and missed-event examples</a:t>
            </a:r>
          </a:p>
          <a:p xmlns:a="http://schemas.openxmlformats.org/drawingml/2006/main">
            <a:r>
              <a:t>SCREEN: PPT</a:t>
            </a:r>
          </a:p>
          <a:p xmlns:a="http://schemas.openxmlformats.org/drawingml/2006/main">
            <a:r>
              <a:t>PRESENTER ACTION: Keep the limitations slide visible. Refer to the false alarm and miss just demonstrated. A sensor-gap illustration is not a clinical reliability guarantee.</a:t>
            </a:r>
          </a:p>
          <a:p xmlns:a="http://schemas.openxmlformats.org/drawingml/2006/main">
            <a:r>
              <a:t/>
            </a:r>
          </a:p>
          <a:p xmlns:a="http://schemas.openxmlformats.org/drawingml/2006/main">
            <a:r>
              <a:t>NARRATION AND TIMED ACTIONS</a:t>
            </a:r>
          </a:p>
          <a:p xmlns:a="http://schemas.openxmlformats.org/drawingml/2006/main">
            <a:r>
              <a:t>The largest limitation is the synthetic dataset. It demonstrates the pipeline, but does not establish whether these forecasts would help real patients.</a:t>
            </a:r>
          </a:p>
          <a:p xmlns:a="http://schemas.openxmlformats.org/drawingml/2006/main">
            <a:r>
              <a:t/>
            </a:r>
          </a:p>
          <a:p xmlns:a="http://schemas.openxmlformats.org/drawingml/2006/main">
            <a:r>
              <a:t>False alarms remain substantial, and the classifier misses some events. Our target checks one two-hour endpoint, not every possible spike inside the interval.</a:t>
            </a:r>
          </a:p>
          <a:p xmlns:a="http://schemas.openxmlformats.org/drawingml/2006/main">
            <a:r>
              <a:t/>
            </a:r>
          </a:p>
          <a:p xmlns:a="http://schemas.openxmlformats.org/drawingml/2006/main">
            <a:r>
              <a:t>[Pause 3 seconds. Point to the limitations on the slide.]</a:t>
            </a:r>
          </a:p>
          <a:p xmlns:a="http://schemas.openxmlformats.org/drawingml/2006/main">
            <a:r>
              <a:t/>
            </a:r>
          </a:p>
          <a:p xmlns:a="http://schemas.openxmlformats.org/drawingml/2006/main">
            <a:r>
              <a:t>The genetic marker is hypothetical. We do not prescribe treatment, estimate medication effects or claim a clinically validated personalized model.</a:t>
            </a:r>
          </a:p>
          <a:p xmlns:a="http://schemas.openxmlformats.org/drawingml/2006/main">
            <a:r>
              <a:t/>
            </a:r>
          </a:p>
          <a:p xmlns:a="http://schemas.openxmlformats.org/drawingml/2006/main">
            <a:r>
              <a:t>A next study would require appropriately permitted longitudinal data, clinical agreement on the outcome definition, and patient-separated evaluation. It should also examine calibration, missing data, subgroup performance and the burden of warnings on clinicians.</a:t>
            </a:r>
          </a:p>
          <a:p xmlns:a="http://schemas.openxmlformats.org/drawingml/2006/main">
            <a:r>
              <a:t/>
            </a:r>
          </a:p>
          <a:p xmlns:a="http://schemas.openxmlformats.org/drawingml/2006/main">
            <a:r>
              <a:t>Our current contribution is a transparent and reproducible proof of concept, with its limitations visible alongside its results.</a:t>
            </a:r>
          </a:p>
          <a:p xmlns:a="http://schemas.openxmlformats.org/drawingml/2006/main">
            <a:r>
              <a:t/>
            </a:r>
          </a:p>
          <a:p xmlns:a="http://schemas.openxmlformats.org/drawingml/2006/main">
            <a:r>
              <a:t>[Pause 3 seconds. Advance near 18:20.]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Reproducibility and verification</a:t>
            </a:r>
          </a:p>
          <a:p xmlns:a="http://schemas.openxmlformats.org/drawingml/2006/main">
            <a:r>
              <a:t>RECORDING WINDOW: 18:20 - 19:10 (50 seconds)</a:t>
            </a:r>
          </a:p>
          <a:p xmlns:a="http://schemas.openxmlformats.org/drawingml/2006/main">
            <a:r>
              <a:t>PROTOTYPE FEATURE: Reproducibility</a:t>
            </a:r>
          </a:p>
          <a:p xmlns:a="http://schemas.openxmlformats.org/drawingml/2006/main">
            <a:r>
              <a:t>WHERE: train.py, check-model.cjs and verify-data.py</a:t>
            </a:r>
          </a:p>
          <a:p xmlns:a="http://schemas.openxmlformats.org/drawingml/2006/main">
            <a:r>
              <a:t>SCREEN: PPT</a:t>
            </a:r>
          </a:p>
          <a:p xmlns:a="http://schemas.openxmlformats.org/drawingml/2006/main">
            <a:r>
              <a:t>PRESENTER ACTION: Keep the verification commands visible. Explain the checks without starting a full training run. If showing terminal output, use an actual completed run and identify it as such.</a:t>
            </a:r>
          </a:p>
          <a:p xmlns:a="http://schemas.openxmlformats.org/drawingml/2006/main">
            <a:r>
              <a:t/>
            </a:r>
          </a:p>
          <a:p xmlns:a="http://schemas.openxmlformats.org/drawingml/2006/main">
            <a:r>
              <a:t>NARRATION AND TIMED ACTIONS</a:t>
            </a:r>
          </a:p>
          <a:p xmlns:a="http://schemas.openxmlformats.org/drawingml/2006/main">
            <a:r>
              <a:t>Evaluators can inspect the full pipeline in the repository. The trained dashboard runs from a static server. Reproducing training requires the pinned Python dependencies and the training script.</a:t>
            </a:r>
          </a:p>
          <a:p xmlns:a="http://schemas.openxmlformats.org/drawingml/2006/main">
            <a:r>
              <a:t/>
            </a:r>
          </a:p>
          <a:p xmlns:a="http://schemas.openxmlformats.org/drawingml/2006/main">
            <a:r>
              <a:t>[Pause 3 seconds. Point to the three commands.]</a:t>
            </a:r>
          </a:p>
          <a:p xmlns:a="http://schemas.openxmlformats.org/drawingml/2006/main">
            <a:r>
              <a:t/>
            </a:r>
          </a:p>
          <a:p xmlns:a="http://schemas.openxmlformats.org/drawingml/2006/main">
            <a:r>
              <a:t>The model checker compares all four thousand, four hundred and sixteen browser predictions and probabilities with Python outputs. It also checks future isolation and event counts.</a:t>
            </a:r>
          </a:p>
          <a:p xmlns:a="http://schemas.openxmlformats.org/drawingml/2006/main">
            <a:r>
              <a:t/>
            </a:r>
          </a:p>
          <a:p xmlns:a="http://schemas.openxmlformats.org/drawingml/2006/main">
            <a:r>
              <a:t>The data checker verifies the patient records, ordered sensor observations, future labels and artifact hashes. Automated repository checks support software integrity. These checks make the work easier to inspect and reproduce; they do not replace clinical validation.</a:t>
            </a:r>
          </a:p>
          <a:p xmlns:a="http://schemas.openxmlformats.org/drawingml/2006/main">
            <a:r>
              <a:t/>
            </a:r>
          </a:p>
          <a:p xmlns:a="http://schemas.openxmlformats.org/drawingml/2006/main">
            <a:r>
              <a:t>[Pause 2 seconds. Advance near 19:10.]</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Repository, license and submission</a:t>
            </a:r>
          </a:p>
          <a:p xmlns:a="http://schemas.openxmlformats.org/drawingml/2006/main">
            <a:r>
              <a:t>RECORDING WINDOW: 19:10 - 20:00 (50 seconds)</a:t>
            </a:r>
          </a:p>
          <a:p xmlns:a="http://schemas.openxmlformats.org/drawingml/2006/main">
            <a:r>
              <a:t>PROTOTYPE FEATURE: Repository and license</a:t>
            </a:r>
          </a:p>
          <a:p xmlns:a="http://schemas.openxmlformats.org/drawingml/2006/main">
            <a:r>
              <a:t>WHERE: Public GitHub README, documentation and MIT LICENSE</a:t>
            </a:r>
          </a:p>
          <a:p xmlns:a="http://schemas.openxmlformats.org/drawingml/2006/main">
            <a:r>
              <a:t>SCREEN: PPT</a:t>
            </a:r>
          </a:p>
          <a:p xmlns:a="http://schemas.openxmlformats.org/drawingml/2006/main">
            <a:r>
              <a:t>PRESENTER ACTION: Keep the closing slide and repository link visible. Add the completed video URL after recording and verify access and actual duration.</a:t>
            </a:r>
          </a:p>
          <a:p xmlns:a="http://schemas.openxmlformats.org/drawingml/2006/main">
            <a:r>
              <a:t/>
            </a:r>
          </a:p>
          <a:p xmlns:a="http://schemas.openxmlformats.org/drawingml/2006/main">
            <a:r>
              <a:t>NARRATION AND TIMED ACTIONS</a:t>
            </a:r>
          </a:p>
          <a:p xmlns:a="http://schemas.openxmlformats.org/drawingml/2006/main">
            <a:r>
              <a:t>Our public GitHub repository contains the project under the required team and college folder, with the code, fitted models, synthetic data and verification scripts.</a:t>
            </a:r>
          </a:p>
          <a:p xmlns:a="http://schemas.openxmlformats.org/drawingml/2006/main">
            <a:r>
              <a:t/>
            </a:r>
          </a:p>
          <a:p xmlns:a="http://schemas.openxmlformats.org/drawingml/2006/main">
            <a:r>
              <a:t>The documentation includes the problem statement, methods, results, limitations, architecture and presentation. Original project materials use the MIT license.</a:t>
            </a:r>
          </a:p>
          <a:p xmlns:a="http://schemas.openxmlformats.org/drawingml/2006/main">
            <a:r>
              <a:t/>
            </a:r>
          </a:p>
          <a:p xmlns:a="http://schemas.openxmlformats.org/drawingml/2006/main">
            <a:r>
              <a:t>[Pause 3 seconds. Point to the repository link.]</a:t>
            </a:r>
          </a:p>
          <a:p xmlns:a="http://schemas.openxmlformats.org/drawingml/2006/main">
            <a:r>
              <a:t/>
            </a:r>
          </a:p>
          <a:p xmlns:a="http://schemas.openxmlformats.org/drawingml/2006/main">
            <a:r>
              <a:t>After this recording, we will add its accessible link to the README and verify that the final video is at least twenty minutes long.</a:t>
            </a:r>
          </a:p>
          <a:p xmlns:a="http://schemas.openxmlformats.org/drawingml/2006/main">
            <a:r>
              <a:t/>
            </a:r>
          </a:p>
          <a:p xmlns:a="http://schemas.openxmlformats.org/drawingml/2006/main">
            <a:r>
              <a:t>Twinlab demonstrates historical and sensor-data fusion, trained prediction models, comparative benchmarking and a working clinician dashboard. Thank you for watching our presentation.</a:t>
            </a:r>
          </a:p>
          <a:p xmlns:a="http://schemas.openxmlformats.org/drawingml/2006/main">
            <a:r>
              <a:t/>
            </a:r>
          </a:p>
          <a:p xmlns:a="http://schemas.openxmlformats.org/drawingml/2006/main">
            <a:r>
              <a:t>[Pause 3 seconds. Leave the closing slide visible. Check the stopwatch: end the recording only after 20:00; a few extra seconds provide a useful margin.]</a:t>
            </a:r>
          </a:p>
          <a:p xmlns:a="http://schemas.openxmlformats.org/drawingml/2006/main">
            <a:r>
              <a:t/>
            </a:r>
          </a:p>
          <a:p xmlns:a="http://schemas.openxmlformats.org/drawingml/2006/main">
            <a:r>
              <a:t>Sources: project code and dist/benchmark.json, seed 20261018. Public repository: https://github.com/Paras-so/Digital-Twin-Challenge-2026 . Working prototype: https://twinlab-glucose-poc.pluckyiris4.chatgpt.site/ . All patient data is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92b25e94fc45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9530fab29145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67873ebe2a47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ea8c28cc9541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9882f9ffff4ea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b47d213f6b48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C24AB7-BE09-4CEF-A977-08CD40432B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D20EEB-0D42-4D1C-8C15-28CCB6F07B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77F1357-3F66-4958-9885-88C32AEE85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C29EA0-3DC4-4FD7-98BC-9FEE3BAE7E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DF33B4-DA04-42A0-941F-4BE5778186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0842A2-819B-4AB3-9E48-2988C3335B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632983-015B-4069-A234-685B7B3293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B5085E9-D195-400C-809F-F0D1965168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02855A-BFF0-4D82-9666-B23CC1520E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012636-3133-438B-85A7-BE07C951CD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e99da672d74c44" /><Relationship Type="http://schemas.openxmlformats.org/officeDocument/2006/relationships/slideLayout" Target="/ppt/slideLayouts/slideLayout1.xml" Id="R66dd5d73e29340bf" /><Relationship Type="http://schemas.openxmlformats.org/officeDocument/2006/relationships/slideLayout" Target="/ppt/slideLayouts/slideLayout2.xml" Id="Ra3986a0e0db84c1d" /><Relationship Type="http://schemas.openxmlformats.org/officeDocument/2006/relationships/slideLayout" Target="/ppt/slideLayouts/slideLayout3.xml" Id="R75c4684ac1e84d31" /><Relationship Type="http://schemas.openxmlformats.org/officeDocument/2006/relationships/slideLayout" Target="/ppt/slideLayouts/slideLayout4.xml" Id="R6f2ceee5caf34953" /><Relationship Type="http://schemas.openxmlformats.org/officeDocument/2006/relationships/slideLayout" Target="/ppt/slideLayouts/slideLayout5.xml" Id="R521a35b1fb6e4be7" /><Relationship Type="http://schemas.openxmlformats.org/officeDocument/2006/relationships/slideLayout" Target="/ppt/slideLayouts/slideLayout6.xml" Id="R418e8188aff447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dd5d73e29340bf"/>
    <p:sldLayoutId xmlns:r="http://schemas.openxmlformats.org/officeDocument/2006/relationships" id="2147483650" r:id="Ra3986a0e0db84c1d"/>
    <p:sldLayoutId xmlns:r="http://schemas.openxmlformats.org/officeDocument/2006/relationships" id="2147483651" r:id="R75c4684ac1e84d31"/>
    <p:sldLayoutId xmlns:r="http://schemas.openxmlformats.org/officeDocument/2006/relationships" id="2147483652" r:id="R6f2ceee5caf34953"/>
    <p:sldLayoutId xmlns:r="http://schemas.openxmlformats.org/officeDocument/2006/relationships" id="2147483653" r:id="R521a35b1fb6e4be7"/>
    <p:sldLayoutId xmlns:r="http://schemas.openxmlformats.org/officeDocument/2006/relationships" id="2147483654" r:id="R418e8188aff447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45d8a1e93a4a16" /><Relationship Type="http://schemas.openxmlformats.org/officeDocument/2006/relationships/notesSlide" Target="/ppt/notesSlides/notesSlide1.xml" Id="R2aa6ff8b8c6248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446ce684374ca3" /><Relationship Type="http://schemas.openxmlformats.org/officeDocument/2006/relationships/notesSlide" Target="/ppt/notesSlides/notesSlide2.xml" Id="Rc4b7c8b989d04a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a76d6981b74846" /><Relationship Type="http://schemas.openxmlformats.org/officeDocument/2006/relationships/notesSlide" Target="/ppt/notesSlides/notesSlide3.xml" Id="Rf8e5cf12880b41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ac9ce513b64da3" /><Relationship Type="http://schemas.openxmlformats.org/officeDocument/2006/relationships/notesSlide" Target="/ppt/notesSlides/notesSlide4.xml" Id="R075d74dcdae74d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69031d652b42f3" /><Relationship Type="http://schemas.openxmlformats.org/officeDocument/2006/relationships/notesSlide" Target="/ppt/notesSlides/notesSlide5.xml" Id="R1402f52f6c8d43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ca3eda64344499" /><Relationship Type="http://schemas.openxmlformats.org/officeDocument/2006/relationships/notesSlide" Target="/ppt/notesSlides/notesSlide6.xml" Id="Re0b19b6e510645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00b04d05d064508" /><Relationship Type="http://schemas.openxmlformats.org/officeDocument/2006/relationships/notesSlide" Target="/ppt/notesSlides/notesSlide7.xml" Id="R9a61831aef864b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28a52066c464004" /><Relationship Type="http://schemas.openxmlformats.org/officeDocument/2006/relationships/notesSlide" Target="/ppt/notesSlides/notesSlide8.xml" Id="R2d0c22ea629045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c96fca3b53495f" /><Relationship Type="http://schemas.openxmlformats.org/officeDocument/2006/relationships/notesSlide" Target="/ppt/notesSlides/notesSlide9.xml" Id="R755802bdba3140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7b4dc0785004e1c" /><Relationship Type="http://schemas.openxmlformats.org/officeDocument/2006/relationships/notesSlide" Target="/ppt/notesSlides/notesSlide10.xml" Id="Rb13ab83a46aa49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b0877aff054e47" /><Relationship Type="http://schemas.openxmlformats.org/officeDocument/2006/relationships/notesSlide" Target="/ppt/notesSlides/notesSlide11.xml" Id="R73d9f6d3fd4b43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f90e28b45f1444a" /><Relationship Type="http://schemas.openxmlformats.org/officeDocument/2006/relationships/notesSlide" Target="/ppt/notesSlides/notesSlide12.xml" Id="R75d5afcd94424c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9cb7af126e54a47" /><Relationship Type="http://schemas.openxmlformats.org/officeDocument/2006/relationships/notesSlide" Target="/ppt/notesSlides/notesSlide13.xml" Id="Rc76d664eb41a48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520fb5597f14947" /><Relationship Type="http://schemas.openxmlformats.org/officeDocument/2006/relationships/image" Target="/ppt/media/image.jpeg" Id="R1c436426207d4757" /><Relationship Type="http://schemas.openxmlformats.org/officeDocument/2006/relationships/notesSlide" Target="/ppt/notesSlides/notesSlide14.xml" Id="R02c8021d17d447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53a61dac98f4ba6" /><Relationship Type="http://schemas.openxmlformats.org/officeDocument/2006/relationships/hyperlink" Target="https://twinlab-glucose-poc.pluckyiris4.chatgpt.site/" TargetMode="External" Id="Rc64be3bca3c74845" /><Relationship Type="http://schemas.openxmlformats.org/officeDocument/2006/relationships/notesSlide" Target="/ppt/notesSlides/notesSlide15.xml" Id="Rc5d159c18c6146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67d1c593e0b4bfa" /><Relationship Type="http://schemas.openxmlformats.org/officeDocument/2006/relationships/notesSlide" Target="/ppt/notesSlides/notesSlide16.xml" Id="Red62e46f7624427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89e62a15df847d8" /><Relationship Type="http://schemas.openxmlformats.org/officeDocument/2006/relationships/notesSlide" Target="/ppt/notesSlides/notesSlide17.xml" Id="R6e1d290e1f1144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8061f7a81734452" /><Relationship Type="http://schemas.openxmlformats.org/officeDocument/2006/relationships/hyperlink" Target="https://github.com/Paras-so/Digital-Twin-Challenge-2026" TargetMode="External" Id="Rd6c9e7825eb14c54" /><Relationship Type="http://schemas.openxmlformats.org/officeDocument/2006/relationships/notesSlide" Target="/ppt/notesSlides/notesSlide18.xml" Id="Rf0db7260069c4780" /></Relationships>
</file>

<file path=ppt/slides/slide1.xml><?xml version="1.0" encoding="utf-8"?>
<p:sld xmlns:p="http://schemas.openxmlformats.org/presentationml/2006/main">
  <p:cSld>
    <p:bg>
      <p:bgPr>
        <a:solidFill xmlns:a="http://schemas.openxmlformats.org/drawingml/2006/main">
          <a:srgbClr val="173F3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09B735-9A1C-4BDD-8289-3C4F2C27A145}"/>
              </a:ext>
            </a:extLst>
          </p:cNvPr>
          <p:cNvSpPr>
            <a:spLocks xmlns:a="http://schemas.openxmlformats.org/drawingml/2006/main" noGrp="1"/>
          </p:cNvSpPr>
          <p:nvPr/>
        </p:nvSpPr>
        <p:spPr>
          <a:xfrm xmlns:a="http://schemas.openxmlformats.org/drawingml/2006/main">
            <a:off x="666750" y="6953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9FC6AE"/>
                </a:solidFill>
                <a:latin typeface="Segoe UI"/>
                <a:ea typeface="Segoe UI"/>
                <a:cs typeface="Segoe UI"/>
              </a:defRPr>
            </a:defPPr>
          </a:lstStyle>
          <a:p xmlns:a="http://schemas.openxmlformats.org/drawingml/2006/main">
            <a:pPr>
              <a:buNone/>
              <a:defRPr sz="1725" b="1">
                <a:solidFill>
                  <a:srgbClr val="9FC6AE"/>
                </a:solidFill>
                <a:latin typeface="Segoe UI"/>
                <a:ea typeface="Segoe UI"/>
                <a:cs typeface="Segoe UI"/>
              </a:defRPr>
            </a:pPr>
            <a:r>
              <a:rPr sz="1725" b="1">
                <a:solidFill>
                  <a:srgbClr val="9FC6AE"/>
                </a:solidFill>
                <a:latin typeface="Segoe UI"/>
                <a:ea typeface="Segoe UI"/>
                <a:cs typeface="Segoe UI"/>
              </a:rPr>
              <a:t>TWINLAB</a:t>
            </a:r>
          </a:p>
        </p:txBody>
      </p:sp>
      <p:sp>
        <p:nvSpPr>
          <p:cNvPr id="2" name="">
            <a:extLst xmlns:a="http://schemas.openxmlformats.org/drawingml/2006/main">
              <a:ext uri="{FF2B5EF4-FFF2-40B4-BE49-F238E27FC236}">
                <a16:creationId xmlns:a16="http://schemas.microsoft.com/office/drawing/2014/main" id="{846B69F8-B7F2-4A3C-BD87-395966D6C53C}"/>
              </a:ext>
            </a:extLst>
          </p:cNvPr>
          <p:cNvSpPr>
            <a:spLocks xmlns:a="http://schemas.openxmlformats.org/drawingml/2006/main" noGrp="1"/>
          </p:cNvSpPr>
          <p:nvPr/>
        </p:nvSpPr>
        <p:spPr>
          <a:xfrm xmlns:a="http://schemas.openxmlformats.org/drawingml/2006/main">
            <a:off x="666750" y="19716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FFFFF"/>
                </a:solidFill>
                <a:latin typeface="Segoe UI"/>
                <a:ea typeface="Segoe UI"/>
                <a:cs typeface="Segoe UI"/>
              </a:defRPr>
            </a:defPPr>
          </a:lstStyle>
          <a:p xmlns:a="http://schemas.openxmlformats.org/drawingml/2006/main">
            <a:pPr>
              <a:buNone/>
              <a:defRPr sz="4800" b="1">
                <a:solidFill>
                  <a:srgbClr val="FFFFFF"/>
                </a:solidFill>
                <a:latin typeface="Segoe UI"/>
                <a:ea typeface="Segoe UI"/>
                <a:cs typeface="Segoe UI"/>
              </a:defRPr>
            </a:pPr>
            <a:r>
              <a:rPr sz="4800" b="1">
                <a:solidFill>
                  <a:srgbClr val="FFFFFF"/>
                </a:solidFill>
                <a:latin typeface="Segoe UI"/>
                <a:ea typeface="Segoe UI"/>
                <a:cs typeface="Segoe UI"/>
              </a:rPr>
              <a:t>A patient Digital Twin</a:t>
            </a:r>
          </a:p>
        </p:txBody>
      </p:sp>
      <p:sp>
        <p:nvSpPr>
          <p:cNvPr id="3" name="">
            <a:extLst xmlns:a="http://schemas.openxmlformats.org/drawingml/2006/main">
              <a:ext uri="{FF2B5EF4-FFF2-40B4-BE49-F238E27FC236}">
                <a16:creationId xmlns:a16="http://schemas.microsoft.com/office/drawing/2014/main" id="{390A5B26-EDF1-4F20-A2CA-416FE351A0B9}"/>
              </a:ext>
            </a:extLst>
          </p:cNvPr>
          <p:cNvSpPr>
            <a:spLocks xmlns:a="http://schemas.openxmlformats.org/drawingml/2006/main" noGrp="1"/>
          </p:cNvSpPr>
          <p:nvPr/>
        </p:nvSpPr>
        <p:spPr>
          <a:xfrm xmlns:a="http://schemas.openxmlformats.org/drawingml/2006/main">
            <a:off x="666750" y="3076575"/>
            <a:ext cx="1000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0">
                <a:solidFill>
                  <a:srgbClr val="D0E4D5"/>
                </a:solidFill>
                <a:latin typeface="Segoe UI"/>
                <a:ea typeface="Segoe UI"/>
                <a:cs typeface="Segoe UI"/>
              </a:defRPr>
            </a:defPPr>
          </a:lstStyle>
          <a:p xmlns:a="http://schemas.openxmlformats.org/drawingml/2006/main">
            <a:pPr>
              <a:buNone/>
              <a:defRPr sz="2475" b="0">
                <a:solidFill>
                  <a:srgbClr val="D0E4D5"/>
                </a:solidFill>
                <a:latin typeface="Segoe UI"/>
                <a:ea typeface="Segoe UI"/>
                <a:cs typeface="Segoe UI"/>
              </a:defRPr>
            </a:pPr>
            <a:r>
              <a:rPr sz="2475" b="0">
                <a:solidFill>
                  <a:srgbClr val="D0E4D5"/>
                </a:solidFill>
                <a:latin typeface="Segoe UI"/>
                <a:ea typeface="Segoe UI"/>
                <a:cs typeface="Segoe UI"/>
              </a:rPr>
              <a:t>A Digital Twin for two-hour glucose forecasting</a:t>
            </a:r>
          </a:p>
        </p:txBody>
      </p:sp>
      <p:sp>
        <p:nvSpPr>
          <p:cNvPr id="4" name="">
            <a:extLst xmlns:a="http://schemas.openxmlformats.org/drawingml/2006/main">
              <a:ext uri="{FF2B5EF4-FFF2-40B4-BE49-F238E27FC236}">
                <a16:creationId xmlns:a16="http://schemas.microsoft.com/office/drawing/2014/main" id="{6A2DAC39-8FCD-4A5C-9775-1AD1018DFF2D}"/>
              </a:ext>
            </a:extLst>
          </p:cNvPr>
          <p:cNvSpPr>
            <a:spLocks xmlns:a="http://schemas.openxmlformats.org/drawingml/2006/main" noGrp="1"/>
          </p:cNvSpPr>
          <p:nvPr/>
        </p:nvSpPr>
        <p:spPr>
          <a:xfrm xmlns:a="http://schemas.openxmlformats.org/drawingml/2006/main">
            <a:off x="666750" y="481012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0E4D5"/>
                </a:solidFill>
                <a:latin typeface="Segoe UI"/>
                <a:ea typeface="Segoe UI"/>
                <a:cs typeface="Segoe UI"/>
              </a:defRPr>
            </a:defPPr>
          </a:lstStyle>
          <a:p xmlns:a="http://schemas.openxmlformats.org/drawingml/2006/main">
            <a:pPr>
              <a:buNone/>
              <a:defRPr sz="1875" b="0">
                <a:solidFill>
                  <a:srgbClr val="D0E4D5"/>
                </a:solidFill>
                <a:latin typeface="Segoe UI"/>
                <a:ea typeface="Segoe UI"/>
                <a:cs typeface="Segoe UI"/>
              </a:defRPr>
            </a:pPr>
            <a:r>
              <a:rPr sz="1875" b="0">
                <a:solidFill>
                  <a:srgbClr val="D0E4D5"/>
                </a:solidFill>
                <a:latin typeface="Segoe UI"/>
                <a:ea typeface="Segoe UI"/>
                <a:cs typeface="Segoe UI"/>
              </a:rPr>
              <a:t>jagjeet.work.16</a:t>
            </a:r>
          </a:p>
          <a:p xmlns:a="http://schemas.openxmlformats.org/drawingml/2006/main">
            <a:pPr>
              <a:buNone/>
              <a:defRPr sz="1875" b="0">
                <a:solidFill>
                  <a:srgbClr val="D0E4D5"/>
                </a:solidFill>
                <a:latin typeface="Segoe UI"/>
                <a:ea typeface="Segoe UI"/>
                <a:cs typeface="Segoe UI"/>
              </a:defRPr>
            </a:pPr>
            <a:r>
              <a:rPr sz="1875" b="0">
                <a:solidFill>
                  <a:srgbClr val="D0E4D5"/>
                </a:solidFill>
                <a:latin typeface="Segoe UI"/>
                <a:ea typeface="Segoe UI"/>
                <a:cs typeface="Segoe UI"/>
              </a:rPr>
              <a:t>National Institute of Technology Agartala</a:t>
            </a:r>
          </a:p>
        </p:txBody>
      </p:sp>
      <p:sp>
        <p:nvSpPr>
          <p:cNvPr id="5" name="">
            <a:extLst xmlns:a="http://schemas.openxmlformats.org/drawingml/2006/main">
              <a:ext uri="{FF2B5EF4-FFF2-40B4-BE49-F238E27FC236}">
                <a16:creationId xmlns:a16="http://schemas.microsoft.com/office/drawing/2014/main" id="{65C30AA2-1F82-4681-A453-0B15C805663F}"/>
              </a:ext>
            </a:extLst>
          </p:cNvPr>
          <p:cNvSpPr>
            <a:spLocks xmlns:a="http://schemas.openxmlformats.org/drawingml/2006/main" noGrp="1"/>
          </p:cNvSpPr>
          <p:nvPr/>
        </p:nvSpPr>
        <p:spPr>
          <a:xfrm xmlns:a="http://schemas.openxmlformats.org/drawingml/2006/main">
            <a:off x="666750" y="59340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BDD6C5"/>
                </a:solidFill>
                <a:latin typeface="Segoe UI"/>
                <a:ea typeface="Segoe UI"/>
                <a:cs typeface="Segoe UI"/>
              </a:defRPr>
            </a:defPPr>
          </a:lstStyle>
          <a:p xmlns:a="http://schemas.openxmlformats.org/drawingml/2006/main">
            <a:pPr>
              <a:buNone/>
              <a:defRPr sz="1350" b="0">
                <a:solidFill>
                  <a:srgbClr val="BDD6C5"/>
                </a:solidFill>
                <a:latin typeface="Segoe UI"/>
                <a:ea typeface="Segoe UI"/>
                <a:cs typeface="Segoe UI"/>
              </a:defRPr>
            </a:pPr>
            <a:r>
              <a:rPr sz="1350" b="0">
                <a:solidFill>
                  <a:srgbClr val="BDD6C5"/>
                </a:solidFill>
                <a:latin typeface="Segoe UI"/>
                <a:ea typeface="Segoe UI"/>
                <a:cs typeface="Segoe UI"/>
              </a:rPr>
              <a:t>Happiest Health Healthcare Summit 2026, Bengaluru</a:t>
            </a:r>
          </a:p>
        </p:txBody>
      </p:sp>
      <p:sp>
        <p:nvSpPr>
          <p:cNvPr id="7" name="">
            <a:extLst xmlns:a="http://schemas.openxmlformats.org/drawingml/2006/main">
              <a:ext uri="{FF2B5EF4-FFF2-40B4-BE49-F238E27FC236}">
                <a16:creationId xmlns:a16="http://schemas.microsoft.com/office/drawing/2014/main" id="{BAC44C29-EEDF-4871-B616-00EA41905B60}"/>
              </a:ext>
            </a:extLst>
          </p:cNvPr>
          <p:cNvSpPr>
            <a:spLocks xmlns:a="http://schemas.openxmlformats.org/drawingml/2006/main" noGrp="1"/>
          </p:cNvSpPr>
          <p:nvPr/>
        </p:nvSpPr>
        <p:spPr>
          <a:xfrm xmlns:a="http://schemas.openxmlformats.org/drawingml/2006/main">
            <a:off x="666750" y="40481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a:solidFill>
                  <a:srgbClr val="D0E4D5"/>
                </a:solidFill>
                <a:latin typeface="Segoe UI"/>
                <a:ea typeface="Segoe UI"/>
                <a:cs typeface="Segoe UI"/>
              </a:defRPr>
            </a:defPPr>
          </a:lstStyle>
          <a:p xmlns:a="http://schemas.openxmlformats.org/drawingml/2006/main">
            <a:pPr>
              <a:defRPr sz="1575">
                <a:solidFill>
                  <a:srgbClr val="D0E4D5"/>
                </a:solidFill>
                <a:latin typeface="Segoe UI"/>
                <a:ea typeface="Segoe UI"/>
                <a:cs typeface="Segoe UI"/>
              </a:defRPr>
            </a:pPr>
            <a:r>
              <a:rPr sz="1575">
                <a:solidFill>
                  <a:srgbClr val="D0E4D5"/>
                </a:solidFill>
                <a:latin typeface="Segoe UI"/>
                <a:ea typeface="Segoe UI"/>
                <a:cs typeface="Segoe UI"/>
              </a:rPr>
              <a:t>Prototype: synthetic patient and two-hour glucose prediction</a:t>
            </a:r>
          </a:p>
        </p:txBody>
      </p:sp>
      <p:sp>
        <p:nvSpPr>
          <p:cNvPr id="8" name="">
            <a:extLst xmlns:a="http://schemas.openxmlformats.org/drawingml/2006/main">
              <a:ext uri="{FF2B5EF4-FFF2-40B4-BE49-F238E27FC236}">
                <a16:creationId xmlns:a16="http://schemas.microsoft.com/office/drawing/2014/main" id="{2CAC7D6F-A23D-4CEC-845C-5BAD09735BD6}"/>
              </a:ext>
            </a:extLst>
          </p:cNvPr>
          <p:cNvSpPr>
            <a:spLocks xmlns:a="http://schemas.openxmlformats.org/drawingml/2006/main" noGrp="1"/>
          </p:cNvSpPr>
          <p:nvPr/>
        </p:nvSpPr>
        <p:spPr>
          <a:xfrm xmlns:a="http://schemas.openxmlformats.org/drawingml/2006/main">
            <a:off x="8763000" y="64198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a:solidFill>
                  <a:srgbClr val="BDD6C5"/>
                </a:solidFill>
                <a:latin typeface="Segoe UI"/>
                <a:ea typeface="Segoe UI"/>
                <a:cs typeface="Segoe UI"/>
              </a:defRPr>
            </a:defPPr>
          </a:lstStyle>
          <a:p xmlns:a="http://schemas.openxmlformats.org/drawingml/2006/main">
            <a:pPr>
              <a:defRPr sz="1275">
                <a:solidFill>
                  <a:srgbClr val="BDD6C5"/>
                </a:solidFill>
                <a:latin typeface="Segoe UI"/>
                <a:ea typeface="Segoe UI"/>
                <a:cs typeface="Segoe UI"/>
              </a:defRPr>
            </a:pPr>
            <a:r>
              <a:rPr sz="1275">
                <a:solidFill>
                  <a:srgbClr val="BDD6C5"/>
                </a:solidFill>
                <a:latin typeface="Segoe UI"/>
                <a:ea typeface="Segoe UI"/>
                <a:cs typeface="Segoe UI"/>
              </a:rPr>
              <a:t>00:00 - 00:45   1/18</a:t>
            </a:r>
          </a:p>
        </p:txBody>
      </p:sp>
    </p:spTree>
    <p:extLst>
      <p:ext uri="{BB962C8B-B14F-4D97-AF65-F5344CB8AC3E}">
        <p14:creationId xmlns:p14="http://schemas.microsoft.com/office/powerpoint/2010/main" val="1339889494"/>
      </p:ext>
    </p:extLst>
  </p:cSld>
</p:sld>
</file>

<file path=ppt/slides/slide2.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040B05-33FF-4643-80D6-CB07641FB9BD}"/>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Problem and healthcare use case</a:t>
            </a:r>
          </a:p>
        </p:txBody>
      </p:sp>
      <p:sp>
        <p:nvSpPr>
          <p:cNvPr id="2" name="">
            <a:extLst xmlns:a="http://schemas.openxmlformats.org/drawingml/2006/main">
              <a:ext uri="{FF2B5EF4-FFF2-40B4-BE49-F238E27FC236}">
                <a16:creationId xmlns:a16="http://schemas.microsoft.com/office/drawing/2014/main" id="{52A85193-B2F2-4E8C-86F0-CF93A2321B2B}"/>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5B583B3F-3FE6-48D0-814D-7F8F1A3263EC}"/>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00:45 - 01:45   2/18</a:t>
            </a:r>
          </a:p>
        </p:txBody>
      </p:sp>
      <p:sp>
        <p:nvSpPr>
          <p:cNvPr id="4" name="">
            <a:extLst xmlns:a="http://schemas.openxmlformats.org/drawingml/2006/main">
              <a:ext uri="{FF2B5EF4-FFF2-40B4-BE49-F238E27FC236}">
                <a16:creationId xmlns:a16="http://schemas.microsoft.com/office/drawing/2014/main" id="{7F7CC3EE-C1ED-4859-826B-40962FBE751D}"/>
              </a:ext>
            </a:extLst>
          </p:cNvPr>
          <p:cNvSpPr>
            <a:spLocks xmlns:a="http://schemas.openxmlformats.org/drawingml/2006/main" noGrp="1"/>
          </p:cNvSpPr>
          <p:nvPr/>
        </p:nvSpPr>
        <p:spPr>
          <a:xfrm xmlns:a="http://schemas.openxmlformats.org/drawingml/2006/main">
            <a:off x="666750" y="207645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Historical context</a:t>
            </a:r>
          </a:p>
        </p:txBody>
      </p:sp>
      <p:sp>
        <p:nvSpPr>
          <p:cNvPr id="5" name="">
            <a:extLst xmlns:a="http://schemas.openxmlformats.org/drawingml/2006/main">
              <a:ext uri="{FF2B5EF4-FFF2-40B4-BE49-F238E27FC236}">
                <a16:creationId xmlns:a16="http://schemas.microsoft.com/office/drawing/2014/main" id="{F57CE607-2935-4FCD-A0DF-2639982CEC21}"/>
              </a:ext>
            </a:extLst>
          </p:cNvPr>
          <p:cNvSpPr>
            <a:spLocks xmlns:a="http://schemas.openxmlformats.org/drawingml/2006/main" noGrp="1"/>
          </p:cNvSpPr>
          <p:nvPr/>
        </p:nvSpPr>
        <p:spPr>
          <a:xfrm xmlns:a="http://schemas.openxmlformats.org/drawingml/2006/main">
            <a:off x="666750" y="25431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A patient record provides diagnosis history and lab results.</a:t>
            </a:r>
          </a:p>
        </p:txBody>
      </p:sp>
      <p:sp>
        <p:nvSpPr>
          <p:cNvPr id="6" name="">
            <a:extLst xmlns:a="http://schemas.openxmlformats.org/drawingml/2006/main">
              <a:ext uri="{FF2B5EF4-FFF2-40B4-BE49-F238E27FC236}">
                <a16:creationId xmlns:a16="http://schemas.microsoft.com/office/drawing/2014/main" id="{9F53E8DA-BC9D-4FF6-AB8B-B8047A3EF182}"/>
              </a:ext>
            </a:extLst>
          </p:cNvPr>
          <p:cNvSpPr>
            <a:spLocks xmlns:a="http://schemas.openxmlformats.org/drawingml/2006/main" noGrp="1"/>
          </p:cNvSpPr>
          <p:nvPr/>
        </p:nvSpPr>
        <p:spPr>
          <a:xfrm xmlns:a="http://schemas.openxmlformats.org/drawingml/2006/main">
            <a:off x="666750" y="34385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Changing health state</a:t>
            </a:r>
          </a:p>
        </p:txBody>
      </p:sp>
      <p:sp>
        <p:nvSpPr>
          <p:cNvPr id="7" name="">
            <a:extLst xmlns:a="http://schemas.openxmlformats.org/drawingml/2006/main">
              <a:ext uri="{FF2B5EF4-FFF2-40B4-BE49-F238E27FC236}">
                <a16:creationId xmlns:a16="http://schemas.microsoft.com/office/drawing/2014/main" id="{B20CD1E5-5AA6-40F4-8C50-98041A4B96DB}"/>
              </a:ext>
            </a:extLst>
          </p:cNvPr>
          <p:cNvSpPr>
            <a:spLocks xmlns:a="http://schemas.openxmlformats.org/drawingml/2006/main" noGrp="1"/>
          </p:cNvSpPr>
          <p:nvPr/>
        </p:nvSpPr>
        <p:spPr>
          <a:xfrm xmlns:a="http://schemas.openxmlformats.org/drawingml/2006/main">
            <a:off x="666750" y="3905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Wearables provide repeated observations of the patient over time.</a:t>
            </a:r>
          </a:p>
        </p:txBody>
      </p:sp>
      <p:sp>
        <p:nvSpPr>
          <p:cNvPr id="8" name="">
            <a:extLst xmlns:a="http://schemas.openxmlformats.org/drawingml/2006/main">
              <a:ext uri="{FF2B5EF4-FFF2-40B4-BE49-F238E27FC236}">
                <a16:creationId xmlns:a16="http://schemas.microsoft.com/office/drawing/2014/main" id="{5CD102D9-DEBB-443C-B39A-8D8DB5939CF9}"/>
              </a:ext>
            </a:extLst>
          </p:cNvPr>
          <p:cNvSpPr>
            <a:spLocks xmlns:a="http://schemas.openxmlformats.org/drawingml/2006/main" noGrp="1"/>
          </p:cNvSpPr>
          <p:nvPr/>
        </p:nvSpPr>
        <p:spPr>
          <a:xfrm xmlns:a="http://schemas.openxmlformats.org/drawingml/2006/main">
            <a:off x="666750" y="48006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Doctor’s task</a:t>
            </a:r>
          </a:p>
        </p:txBody>
      </p:sp>
      <p:sp>
        <p:nvSpPr>
          <p:cNvPr id="9" name="">
            <a:extLst xmlns:a="http://schemas.openxmlformats.org/drawingml/2006/main">
              <a:ext uri="{FF2B5EF4-FFF2-40B4-BE49-F238E27FC236}">
                <a16:creationId xmlns:a16="http://schemas.microsoft.com/office/drawing/2014/main" id="{89990B97-A144-4824-865A-94AABB5A0492}"/>
              </a:ext>
            </a:extLst>
          </p:cNvPr>
          <p:cNvSpPr>
            <a:spLocks xmlns:a="http://schemas.openxmlformats.org/drawingml/2006/main" noGrp="1"/>
          </p:cNvSpPr>
          <p:nvPr/>
        </p:nvSpPr>
        <p:spPr>
          <a:xfrm xmlns:a="http://schemas.openxmlformats.org/drawingml/2006/main">
            <a:off x="666750" y="52673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Review the combined state and an early glucose-risk warning.</a:t>
            </a:r>
          </a:p>
        </p:txBody>
      </p:sp>
      <p:sp>
        <p:nvSpPr>
          <p:cNvPr id="11" name="">
            <a:extLst xmlns:a="http://schemas.openxmlformats.org/drawingml/2006/main">
              <a:ext uri="{FF2B5EF4-FFF2-40B4-BE49-F238E27FC236}">
                <a16:creationId xmlns:a16="http://schemas.microsoft.com/office/drawing/2014/main" id="{E614AE2F-278F-4B4C-AB57-C84DA51F05E8}"/>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Patient overview and forecast cards</a:t>
            </a:r>
          </a:p>
        </p:txBody>
      </p:sp>
    </p:spTree>
    <p:extLst>
      <p:ext uri="{BB962C8B-B14F-4D97-AF65-F5344CB8AC3E}">
        <p14:creationId xmlns:p14="http://schemas.microsoft.com/office/powerpoint/2010/main" val="154947271"/>
      </p:ext>
    </p:extLst>
  </p:cSld>
</p:sld>
</file>

<file path=ppt/slides/slide3.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F346B89-C282-4E77-AA8D-09D2CA8FBD61}"/>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Prediction target</a:t>
            </a:r>
          </a:p>
        </p:txBody>
      </p:sp>
      <p:sp>
        <p:nvSpPr>
          <p:cNvPr id="2" name="">
            <a:extLst xmlns:a="http://schemas.openxmlformats.org/drawingml/2006/main">
              <a:ext uri="{FF2B5EF4-FFF2-40B4-BE49-F238E27FC236}">
                <a16:creationId xmlns:a16="http://schemas.microsoft.com/office/drawing/2014/main" id="{F0530CFB-06F1-459F-95B1-CB19C90AB76D}"/>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A3DAF119-EC46-4219-BC36-F06E4E052BE0}"/>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01:45 - 02:45   3/18</a:t>
            </a:r>
          </a:p>
        </p:txBody>
      </p:sp>
      <p:sp>
        <p:nvSpPr>
          <p:cNvPr id="4" name="">
            <a:extLst xmlns:a="http://schemas.openxmlformats.org/drawingml/2006/main">
              <a:ext uri="{FF2B5EF4-FFF2-40B4-BE49-F238E27FC236}">
                <a16:creationId xmlns:a16="http://schemas.microsoft.com/office/drawing/2014/main" id="{BE31F7EB-3B73-4002-BDFB-C61B0F879AF5}"/>
              </a:ext>
            </a:extLst>
          </p:cNvPr>
          <p:cNvSpPr>
            <a:spLocks xmlns:a="http://schemas.openxmlformats.org/drawingml/2006/main" noGrp="1"/>
          </p:cNvSpPr>
          <p:nvPr/>
        </p:nvSpPr>
        <p:spPr>
          <a:xfrm xmlns:a="http://schemas.openxmlformats.org/drawingml/2006/main">
            <a:off x="666750" y="2028825"/>
            <a:ext cx="3429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850" b="1">
                <a:solidFill>
                  <a:srgbClr val="267B71"/>
                </a:solidFill>
                <a:latin typeface="Segoe UI"/>
                <a:ea typeface="Segoe UI"/>
                <a:cs typeface="Segoe UI"/>
              </a:defRPr>
            </a:defPPr>
          </a:lstStyle>
          <a:p xmlns:a="http://schemas.openxmlformats.org/drawingml/2006/main">
            <a:pPr>
              <a:buNone/>
              <a:defRPr sz="8850" b="1">
                <a:solidFill>
                  <a:srgbClr val="267B71"/>
                </a:solidFill>
                <a:latin typeface="Segoe UI"/>
                <a:ea typeface="Segoe UI"/>
                <a:cs typeface="Segoe UI"/>
              </a:defRPr>
            </a:pPr>
            <a:r>
              <a:rPr sz="8850" b="1">
                <a:solidFill>
                  <a:srgbClr val="267B71"/>
                </a:solidFill>
                <a:latin typeface="Segoe UI"/>
                <a:ea typeface="Segoe UI"/>
                <a:cs typeface="Segoe UI"/>
              </a:rPr>
              <a:t>120</a:t>
            </a:r>
          </a:p>
        </p:txBody>
      </p:sp>
      <p:sp>
        <p:nvSpPr>
          <p:cNvPr id="5" name="">
            <a:extLst xmlns:a="http://schemas.openxmlformats.org/drawingml/2006/main">
              <a:ext uri="{FF2B5EF4-FFF2-40B4-BE49-F238E27FC236}">
                <a16:creationId xmlns:a16="http://schemas.microsoft.com/office/drawing/2014/main" id="{78AB8F6C-7667-40CA-8BDF-AD6185DB26B0}"/>
              </a:ext>
            </a:extLst>
          </p:cNvPr>
          <p:cNvSpPr>
            <a:spLocks xmlns:a="http://schemas.openxmlformats.org/drawingml/2006/main" noGrp="1"/>
          </p:cNvSpPr>
          <p:nvPr/>
        </p:nvSpPr>
        <p:spPr>
          <a:xfrm xmlns:a="http://schemas.openxmlformats.org/drawingml/2006/main">
            <a:off x="704850" y="357187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0">
                <a:solidFill>
                  <a:srgbClr val="173F38"/>
                </a:solidFill>
                <a:latin typeface="Segoe UI"/>
                <a:ea typeface="Segoe UI"/>
                <a:cs typeface="Segoe UI"/>
              </a:defRPr>
            </a:defPPr>
          </a:lstStyle>
          <a:p xmlns:a="http://schemas.openxmlformats.org/drawingml/2006/main">
            <a:pPr>
              <a:buNone/>
              <a:defRPr sz="2775" b="0">
                <a:solidFill>
                  <a:srgbClr val="173F38"/>
                </a:solidFill>
                <a:latin typeface="Segoe UI"/>
                <a:ea typeface="Segoe UI"/>
                <a:cs typeface="Segoe UI"/>
              </a:defRPr>
            </a:pPr>
            <a:r>
              <a:rPr sz="2775" b="0">
                <a:solidFill>
                  <a:srgbClr val="173F38"/>
                </a:solidFill>
                <a:latin typeface="Segoe UI"/>
                <a:ea typeface="Segoe UI"/>
                <a:cs typeface="Segoe UI"/>
              </a:rPr>
              <a:t>minutes ahead</a:t>
            </a:r>
          </a:p>
        </p:txBody>
      </p:sp>
      <p:sp>
        <p:nvSpPr>
          <p:cNvPr id="6" name="">
            <a:extLst xmlns:a="http://schemas.openxmlformats.org/drawingml/2006/main">
              <a:ext uri="{FF2B5EF4-FFF2-40B4-BE49-F238E27FC236}">
                <a16:creationId xmlns:a16="http://schemas.microsoft.com/office/drawing/2014/main" id="{38BBEFCD-B241-4F7D-9FC5-43A07ACA0ED9}"/>
              </a:ext>
            </a:extLst>
          </p:cNvPr>
          <p:cNvSpPr>
            <a:spLocks xmlns:a="http://schemas.openxmlformats.org/drawingml/2006/main" noGrp="1"/>
          </p:cNvSpPr>
          <p:nvPr/>
        </p:nvSpPr>
        <p:spPr>
          <a:xfrm xmlns:a="http://schemas.openxmlformats.org/drawingml/2006/main">
            <a:off x="5905500" y="2114550"/>
            <a:ext cx="5476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F38"/>
                </a:solidFill>
                <a:latin typeface="Segoe UI"/>
                <a:ea typeface="Segoe UI"/>
                <a:cs typeface="Segoe UI"/>
              </a:defRPr>
            </a:defPPr>
          </a:lstStyle>
          <a:p xmlns:a="http://schemas.openxmlformats.org/drawingml/2006/main">
            <a:pPr>
              <a:buNone/>
              <a:defRPr sz="2250" b="1">
                <a:solidFill>
                  <a:srgbClr val="173F38"/>
                </a:solidFill>
                <a:latin typeface="Segoe UI"/>
                <a:ea typeface="Segoe UI"/>
                <a:cs typeface="Segoe UI"/>
              </a:defRPr>
            </a:pPr>
            <a:r>
              <a:rPr sz="2250" b="1">
                <a:solidFill>
                  <a:srgbClr val="173F38"/>
                </a:solidFill>
                <a:latin typeface="Segoe UI"/>
                <a:ea typeface="Segoe UI"/>
                <a:cs typeface="Segoe UI"/>
              </a:rPr>
              <a:t>New elevated-glucose event</a:t>
            </a:r>
          </a:p>
        </p:txBody>
      </p:sp>
      <p:sp>
        <p:nvSpPr>
          <p:cNvPr id="7" name="">
            <a:extLst xmlns:a="http://schemas.openxmlformats.org/drawingml/2006/main">
              <a:ext uri="{FF2B5EF4-FFF2-40B4-BE49-F238E27FC236}">
                <a16:creationId xmlns:a16="http://schemas.microsoft.com/office/drawing/2014/main" id="{87855889-3439-4010-AE5E-A38452B9C513}"/>
              </a:ext>
            </a:extLst>
          </p:cNvPr>
          <p:cNvSpPr>
            <a:spLocks xmlns:a="http://schemas.openxmlformats.org/drawingml/2006/main" noGrp="1"/>
          </p:cNvSpPr>
          <p:nvPr/>
        </p:nvSpPr>
        <p:spPr>
          <a:xfrm xmlns:a="http://schemas.openxmlformats.org/drawingml/2006/main">
            <a:off x="5905500" y="2895600"/>
            <a:ext cx="5476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F38"/>
                </a:solidFill>
                <a:latin typeface="Segoe UI"/>
                <a:ea typeface="Segoe UI"/>
                <a:cs typeface="Segoe UI"/>
              </a:defRPr>
            </a:defPPr>
          </a:lstStyle>
          <a:p xmlns:a="http://schemas.openxmlformats.org/drawingml/2006/main">
            <a:pPr>
              <a:buNone/>
              <a:defRPr sz="2175" b="0">
                <a:solidFill>
                  <a:srgbClr val="173F38"/>
                </a:solidFill>
                <a:latin typeface="Segoe UI"/>
                <a:ea typeface="Segoe UI"/>
                <a:cs typeface="Segoe UI"/>
              </a:defRPr>
            </a:pPr>
            <a:r>
              <a:rPr sz="2175" b="0">
                <a:solidFill>
                  <a:srgbClr val="173F38"/>
                </a:solidFill>
                <a:latin typeface="Segoe UI"/>
                <a:ea typeface="Segoe UI"/>
                <a:cs typeface="Segoe UI"/>
              </a:rPr>
              <a:t>At forecast time: ≤180 mg/dL</a:t>
            </a:r>
          </a:p>
          <a:p xmlns:a="http://schemas.openxmlformats.org/drawingml/2006/main">
            <a:pPr>
              <a:buNone/>
              <a:defRPr sz="2175" b="0">
                <a:solidFill>
                  <a:srgbClr val="173F38"/>
                </a:solidFill>
                <a:latin typeface="Segoe UI"/>
                <a:ea typeface="Segoe UI"/>
                <a:cs typeface="Segoe UI"/>
              </a:defRPr>
            </a:pPr>
            <a:r>
              <a:rPr sz="2175" b="0">
                <a:solidFill>
                  <a:srgbClr val="173F38"/>
                </a:solidFill>
                <a:latin typeface="Segoe UI"/>
                <a:ea typeface="Segoe UI"/>
                <a:cs typeface="Segoe UI"/>
              </a:rPr>
              <a:t>At +120 minutes: &gt;180 mg/dL</a:t>
            </a:r>
          </a:p>
        </p:txBody>
      </p:sp>
      <p:sp>
        <p:nvSpPr>
          <p:cNvPr id="8" name="">
            <a:extLst xmlns:a="http://schemas.openxmlformats.org/drawingml/2006/main">
              <a:ext uri="{FF2B5EF4-FFF2-40B4-BE49-F238E27FC236}">
                <a16:creationId xmlns:a16="http://schemas.microsoft.com/office/drawing/2014/main" id="{6D43F9D6-A295-4DD7-B58B-E08D39BCC880}"/>
              </a:ext>
            </a:extLst>
          </p:cNvPr>
          <p:cNvSpPr>
            <a:spLocks xmlns:a="http://schemas.openxmlformats.org/drawingml/2006/main" noGrp="1"/>
          </p:cNvSpPr>
          <p:nvPr/>
        </p:nvSpPr>
        <p:spPr>
          <a:xfrm xmlns:a="http://schemas.openxmlformats.org/drawingml/2006/main">
            <a:off x="5905500" y="4524375"/>
            <a:ext cx="547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The target is the two-hour endpoint.</a:t>
            </a:r>
          </a:p>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Already elevated origins are excluded.</a:t>
            </a:r>
          </a:p>
        </p:txBody>
      </p:sp>
      <p:sp>
        <p:nvSpPr>
          <p:cNvPr id="9" name="">
            <a:extLst xmlns:a="http://schemas.openxmlformats.org/drawingml/2006/main">
              <a:ext uri="{FF2B5EF4-FFF2-40B4-BE49-F238E27FC236}">
                <a16:creationId xmlns:a16="http://schemas.microsoft.com/office/drawing/2014/main" id="{4B338768-3952-4632-93D8-4D15D6696A59}"/>
              </a:ext>
            </a:extLst>
          </p:cNvPr>
          <p:cNvSpPr>
            <a:spLocks xmlns:a="http://schemas.openxmlformats.org/drawingml/2006/main" noGrp="1"/>
          </p:cNvSpPr>
          <p:nvPr/>
        </p:nvSpPr>
        <p:spPr>
          <a:xfrm xmlns:a="http://schemas.openxmlformats.org/drawingml/2006/main">
            <a:off x="666750" y="5810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Demonstration definition. No clinical or treatment claim.</a:t>
            </a:r>
          </a:p>
        </p:txBody>
      </p:sp>
      <p:sp>
        <p:nvSpPr>
          <p:cNvPr id="11" name="">
            <a:extLst xmlns:a="http://schemas.openxmlformats.org/drawingml/2006/main">
              <a:ext uri="{FF2B5EF4-FFF2-40B4-BE49-F238E27FC236}">
                <a16:creationId xmlns:a16="http://schemas.microsoft.com/office/drawing/2014/main" id="{19161C3D-4B27-423E-9611-CB50573B953B}"/>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Glucose in 2 hours and New adverse event</a:t>
            </a:r>
          </a:p>
        </p:txBody>
      </p:sp>
    </p:spTree>
    <p:extLst>
      <p:ext uri="{BB962C8B-B14F-4D97-AF65-F5344CB8AC3E}">
        <p14:creationId xmlns:p14="http://schemas.microsoft.com/office/powerpoint/2010/main" val="2126453615"/>
      </p:ext>
    </p:extLst>
  </p:cSld>
</p:sld>
</file>

<file path=ppt/slides/slide4.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895A8C-22F2-487E-A3EA-942A3DECDF96}"/>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Fusion of two data streams</a:t>
            </a:r>
          </a:p>
        </p:txBody>
      </p:sp>
      <p:sp>
        <p:nvSpPr>
          <p:cNvPr id="2" name="">
            <a:extLst xmlns:a="http://schemas.openxmlformats.org/drawingml/2006/main">
              <a:ext uri="{FF2B5EF4-FFF2-40B4-BE49-F238E27FC236}">
                <a16:creationId xmlns:a16="http://schemas.microsoft.com/office/drawing/2014/main" id="{76913F58-50BE-46A1-86F4-6E517876B518}"/>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FEC08FFB-809E-4641-8041-C71546FAA10B}"/>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02:45 - 04:05   4/18</a:t>
            </a:r>
          </a:p>
        </p:txBody>
      </p:sp>
      <p:sp>
        <p:nvSpPr>
          <p:cNvPr id="4" name="">
            <a:extLst xmlns:a="http://schemas.openxmlformats.org/drawingml/2006/main">
              <a:ext uri="{FF2B5EF4-FFF2-40B4-BE49-F238E27FC236}">
                <a16:creationId xmlns:a16="http://schemas.microsoft.com/office/drawing/2014/main" id="{5DD0EC5D-2B69-4370-8CB9-0A8889DBC8F1}"/>
              </a:ext>
            </a:extLst>
          </p:cNvPr>
          <p:cNvSpPr>
            <a:spLocks xmlns:a="http://schemas.openxmlformats.org/drawingml/2006/main" noGrp="1"/>
          </p:cNvSpPr>
          <p:nvPr/>
        </p:nvSpPr>
        <p:spPr>
          <a:xfrm xmlns:a="http://schemas.openxmlformats.org/drawingml/2006/main">
            <a:off x="666750" y="20955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267B71"/>
                </a:solidFill>
                <a:latin typeface="Segoe UI"/>
                <a:ea typeface="Segoe UI"/>
                <a:cs typeface="Segoe UI"/>
              </a:defRPr>
            </a:defPPr>
          </a:lstStyle>
          <a:p xmlns:a="http://schemas.openxmlformats.org/drawingml/2006/main">
            <a:pPr>
              <a:buNone/>
              <a:defRPr sz="2400" b="1">
                <a:solidFill>
                  <a:srgbClr val="267B71"/>
                </a:solidFill>
                <a:latin typeface="Segoe UI"/>
                <a:ea typeface="Segoe UI"/>
                <a:cs typeface="Segoe UI"/>
              </a:defRPr>
            </a:pPr>
            <a:r>
              <a:rPr sz="2400" b="1">
                <a:solidFill>
                  <a:srgbClr val="267B71"/>
                </a:solidFill>
                <a:latin typeface="Segoe UI"/>
                <a:ea typeface="Segoe UI"/>
                <a:cs typeface="Segoe UI"/>
              </a:rPr>
              <a:t>Static / historical EHR</a:t>
            </a:r>
          </a:p>
        </p:txBody>
      </p:sp>
      <p:sp>
        <p:nvSpPr>
          <p:cNvPr id="5" name="">
            <a:extLst xmlns:a="http://schemas.openxmlformats.org/drawingml/2006/main">
              <a:ext uri="{FF2B5EF4-FFF2-40B4-BE49-F238E27FC236}">
                <a16:creationId xmlns:a16="http://schemas.microsoft.com/office/drawing/2014/main" id="{8B03DCDB-0260-4373-B49D-15F5B9A892AF}"/>
              </a:ext>
            </a:extLst>
          </p:cNvPr>
          <p:cNvSpPr>
            <a:spLocks xmlns:a="http://schemas.openxmlformats.org/drawingml/2006/main" noGrp="1"/>
          </p:cNvSpPr>
          <p:nvPr/>
        </p:nvSpPr>
        <p:spPr>
          <a:xfrm xmlns:a="http://schemas.openxmlformats.org/drawingml/2006/main">
            <a:off x="666750" y="2847975"/>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F38"/>
                </a:solidFill>
                <a:latin typeface="Segoe UI"/>
                <a:ea typeface="Segoe UI"/>
                <a:cs typeface="Segoe UI"/>
              </a:defRPr>
            </a:defPPr>
          </a:lstStyle>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Demographics</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Diagnosis duration</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HbA1c and BMI</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Hypothetical genetic marker</a:t>
            </a:r>
          </a:p>
        </p:txBody>
      </p:sp>
      <p:sp>
        <p:nvSpPr>
          <p:cNvPr id="6" name="">
            <a:extLst xmlns:a="http://schemas.openxmlformats.org/drawingml/2006/main">
              <a:ext uri="{FF2B5EF4-FFF2-40B4-BE49-F238E27FC236}">
                <a16:creationId xmlns:a16="http://schemas.microsoft.com/office/drawing/2014/main" id="{4D676B5A-6F26-45F9-A9D9-C27E5F9CCB3C}"/>
              </a:ext>
            </a:extLst>
          </p:cNvPr>
          <p:cNvSpPr>
            <a:spLocks xmlns:a="http://schemas.openxmlformats.org/drawingml/2006/main" noGrp="1"/>
          </p:cNvSpPr>
          <p:nvPr/>
        </p:nvSpPr>
        <p:spPr>
          <a:xfrm xmlns:a="http://schemas.openxmlformats.org/drawingml/2006/main">
            <a:off x="6572250" y="20955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267B71"/>
                </a:solidFill>
                <a:latin typeface="Segoe UI"/>
                <a:ea typeface="Segoe UI"/>
                <a:cs typeface="Segoe UI"/>
              </a:defRPr>
            </a:defPPr>
          </a:lstStyle>
          <a:p xmlns:a="http://schemas.openxmlformats.org/drawingml/2006/main">
            <a:pPr>
              <a:buNone/>
              <a:defRPr sz="2400" b="1">
                <a:solidFill>
                  <a:srgbClr val="267B71"/>
                </a:solidFill>
                <a:latin typeface="Segoe UI"/>
                <a:ea typeface="Segoe UI"/>
                <a:cs typeface="Segoe UI"/>
              </a:defRPr>
            </a:pPr>
            <a:r>
              <a:rPr sz="2400" b="1">
                <a:solidFill>
                  <a:srgbClr val="267B71"/>
                </a:solidFill>
                <a:latin typeface="Segoe UI"/>
                <a:ea typeface="Segoe UI"/>
                <a:cs typeface="Segoe UI"/>
              </a:rPr>
              <a:t>Dynamic / wearable history</a:t>
            </a:r>
          </a:p>
        </p:txBody>
      </p:sp>
      <p:sp>
        <p:nvSpPr>
          <p:cNvPr id="7" name="">
            <a:extLst xmlns:a="http://schemas.openxmlformats.org/drawingml/2006/main">
              <a:ext uri="{FF2B5EF4-FFF2-40B4-BE49-F238E27FC236}">
                <a16:creationId xmlns:a16="http://schemas.microsoft.com/office/drawing/2014/main" id="{340B0B26-D306-48FD-B81A-64FC8F1A49BB}"/>
              </a:ext>
            </a:extLst>
          </p:cNvPr>
          <p:cNvSpPr>
            <a:spLocks xmlns:a="http://schemas.openxmlformats.org/drawingml/2006/main" noGrp="1"/>
          </p:cNvSpPr>
          <p:nvPr/>
        </p:nvSpPr>
        <p:spPr>
          <a:xfrm xmlns:a="http://schemas.openxmlformats.org/drawingml/2006/main">
            <a:off x="6572250" y="2847975"/>
            <a:ext cx="4857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F38"/>
                </a:solidFill>
                <a:latin typeface="Segoe UI"/>
                <a:ea typeface="Segoe UI"/>
                <a:cs typeface="Segoe UI"/>
              </a:defRPr>
            </a:defPPr>
          </a:lstStyle>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Five-minute glucose</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Previous-night sleep duration</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Step counts</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Heart rate and HRV</a:t>
            </a:r>
          </a:p>
        </p:txBody>
      </p:sp>
      <p:sp>
        <p:nvSpPr>
          <p:cNvPr id="8" name="">
            <a:extLst xmlns:a="http://schemas.openxmlformats.org/drawingml/2006/main">
              <a:ext uri="{FF2B5EF4-FFF2-40B4-BE49-F238E27FC236}">
                <a16:creationId xmlns:a16="http://schemas.microsoft.com/office/drawing/2014/main" id="{465FFC2C-FB2F-45D3-80A3-87FA530E436F}"/>
              </a:ext>
            </a:extLst>
          </p:cNvPr>
          <p:cNvSpPr>
            <a:spLocks xmlns:a="http://schemas.openxmlformats.org/drawingml/2006/main" noGrp="1"/>
          </p:cNvSpPr>
          <p:nvPr/>
        </p:nvSpPr>
        <p:spPr>
          <a:xfrm xmlns:a="http://schemas.openxmlformats.org/drawingml/2006/main">
            <a:off x="666750" y="57150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Patient ID joins both sources. All records and sensor values are synthetic.</a:t>
            </a:r>
          </a:p>
        </p:txBody>
      </p:sp>
      <p:sp>
        <p:nvSpPr>
          <p:cNvPr id="10" name="">
            <a:extLst xmlns:a="http://schemas.openxmlformats.org/drawingml/2006/main">
              <a:ext uri="{FF2B5EF4-FFF2-40B4-BE49-F238E27FC236}">
                <a16:creationId xmlns:a16="http://schemas.microsoft.com/office/drawing/2014/main" id="{A18604BA-CBCA-4842-B87C-2C4AF864AC8B}"/>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Data streams, EHR and wearable payloads</a:t>
            </a:r>
          </a:p>
        </p:txBody>
      </p:sp>
    </p:spTree>
    <p:extLst>
      <p:ext uri="{BB962C8B-B14F-4D97-AF65-F5344CB8AC3E}">
        <p14:creationId xmlns:p14="http://schemas.microsoft.com/office/powerpoint/2010/main" val="2027669533"/>
      </p:ext>
    </p:extLst>
  </p:cSld>
</p:sld>
</file>

<file path=ppt/slides/slide5.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BAD770-8268-443A-9DFC-6E0E7325879E}"/>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Synthetic longitudinal data</a:t>
            </a:r>
          </a:p>
        </p:txBody>
      </p:sp>
      <p:sp>
        <p:nvSpPr>
          <p:cNvPr id="2" name="">
            <a:extLst xmlns:a="http://schemas.openxmlformats.org/drawingml/2006/main">
              <a:ext uri="{FF2B5EF4-FFF2-40B4-BE49-F238E27FC236}">
                <a16:creationId xmlns:a16="http://schemas.microsoft.com/office/drawing/2014/main" id="{EFA9D427-7F62-4DB8-9716-33025445FEED}"/>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10F8D6B2-087E-4395-8ED8-9D50247AF0BF}"/>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04:05 - 05:00   5/18</a:t>
            </a:r>
          </a:p>
        </p:txBody>
      </p:sp>
      <p:sp>
        <p:nvSpPr>
          <p:cNvPr id="4" name="">
            <a:extLst xmlns:a="http://schemas.openxmlformats.org/drawingml/2006/main">
              <a:ext uri="{FF2B5EF4-FFF2-40B4-BE49-F238E27FC236}">
                <a16:creationId xmlns:a16="http://schemas.microsoft.com/office/drawing/2014/main" id="{38A93A2D-C5EF-4BFD-984D-E3CA2ED39EA1}"/>
              </a:ext>
            </a:extLst>
          </p:cNvPr>
          <p:cNvSpPr>
            <a:spLocks xmlns:a="http://schemas.openxmlformats.org/drawingml/2006/main" noGrp="1"/>
          </p:cNvSpPr>
          <p:nvPr/>
        </p:nvSpPr>
        <p:spPr>
          <a:xfrm xmlns:a="http://schemas.openxmlformats.org/drawingml/2006/main">
            <a:off x="666750" y="223837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525" b="1">
                <a:solidFill>
                  <a:srgbClr val="267B71"/>
                </a:solidFill>
                <a:latin typeface="Segoe UI"/>
                <a:ea typeface="Segoe UI"/>
                <a:cs typeface="Segoe UI"/>
              </a:defRPr>
            </a:defPPr>
          </a:lstStyle>
          <a:p xmlns:a="http://schemas.openxmlformats.org/drawingml/2006/main">
            <a:pPr>
              <a:buNone/>
              <a:defRPr sz="6525" b="1">
                <a:solidFill>
                  <a:srgbClr val="267B71"/>
                </a:solidFill>
                <a:latin typeface="Segoe UI"/>
                <a:ea typeface="Segoe UI"/>
                <a:cs typeface="Segoe UI"/>
              </a:defRPr>
            </a:pPr>
            <a:r>
              <a:rPr sz="6525" b="1">
                <a:solidFill>
                  <a:srgbClr val="267B71"/>
                </a:solidFill>
                <a:latin typeface="Segoe UI"/>
                <a:ea typeface="Segoe UI"/>
                <a:cs typeface="Segoe UI"/>
              </a:rPr>
              <a:t>90</a:t>
            </a:r>
          </a:p>
        </p:txBody>
      </p:sp>
      <p:sp>
        <p:nvSpPr>
          <p:cNvPr id="5" name="">
            <a:extLst xmlns:a="http://schemas.openxmlformats.org/drawingml/2006/main">
              <a:ext uri="{FF2B5EF4-FFF2-40B4-BE49-F238E27FC236}">
                <a16:creationId xmlns:a16="http://schemas.microsoft.com/office/drawing/2014/main" id="{97FC7F75-2BE7-49B3-B99C-72BE95A50EEE}"/>
              </a:ext>
            </a:extLst>
          </p:cNvPr>
          <p:cNvSpPr>
            <a:spLocks xmlns:a="http://schemas.openxmlformats.org/drawingml/2006/main" noGrp="1"/>
          </p:cNvSpPr>
          <p:nvPr/>
        </p:nvSpPr>
        <p:spPr>
          <a:xfrm xmlns:a="http://schemas.openxmlformats.org/drawingml/2006/main">
            <a:off x="666750" y="338137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F38"/>
                </a:solidFill>
                <a:latin typeface="Segoe UI"/>
                <a:ea typeface="Segoe UI"/>
                <a:cs typeface="Segoe UI"/>
              </a:defRPr>
            </a:defPPr>
          </a:lstStyle>
          <a:p xmlns:a="http://schemas.openxmlformats.org/drawingml/2006/main">
            <a:pPr>
              <a:buNone/>
              <a:defRPr sz="2025" b="0">
                <a:solidFill>
                  <a:srgbClr val="173F38"/>
                </a:solidFill>
                <a:latin typeface="Segoe UI"/>
                <a:ea typeface="Segoe UI"/>
                <a:cs typeface="Segoe UI"/>
              </a:defRPr>
            </a:pPr>
            <a:r>
              <a:rPr sz="2025" b="0">
                <a:solidFill>
                  <a:srgbClr val="173F38"/>
                </a:solidFill>
                <a:latin typeface="Segoe UI"/>
                <a:ea typeface="Segoe UI"/>
                <a:cs typeface="Segoe UI"/>
              </a:rPr>
              <a:t>synthetic patients</a:t>
            </a:r>
          </a:p>
        </p:txBody>
      </p:sp>
      <p:sp>
        <p:nvSpPr>
          <p:cNvPr id="6" name="">
            <a:extLst xmlns:a="http://schemas.openxmlformats.org/drawingml/2006/main">
              <a:ext uri="{FF2B5EF4-FFF2-40B4-BE49-F238E27FC236}">
                <a16:creationId xmlns:a16="http://schemas.microsoft.com/office/drawing/2014/main" id="{9A132E70-4BDB-44D9-8C71-76E3CF0ED0E2}"/>
              </a:ext>
            </a:extLst>
          </p:cNvPr>
          <p:cNvSpPr>
            <a:spLocks xmlns:a="http://schemas.openxmlformats.org/drawingml/2006/main" noGrp="1"/>
          </p:cNvSpPr>
          <p:nvPr/>
        </p:nvSpPr>
        <p:spPr>
          <a:xfrm xmlns:a="http://schemas.openxmlformats.org/drawingml/2006/main">
            <a:off x="4429125" y="223837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525" b="1">
                <a:solidFill>
                  <a:srgbClr val="267B71"/>
                </a:solidFill>
                <a:latin typeface="Segoe UI"/>
                <a:ea typeface="Segoe UI"/>
                <a:cs typeface="Segoe UI"/>
              </a:defRPr>
            </a:defPPr>
          </a:lstStyle>
          <a:p xmlns:a="http://schemas.openxmlformats.org/drawingml/2006/main">
            <a:pPr>
              <a:buNone/>
              <a:defRPr sz="6525" b="1">
                <a:solidFill>
                  <a:srgbClr val="267B71"/>
                </a:solidFill>
                <a:latin typeface="Segoe UI"/>
                <a:ea typeface="Segoe UI"/>
                <a:cs typeface="Segoe UI"/>
              </a:defRPr>
            </a:pPr>
            <a:r>
              <a:rPr sz="6525" b="1">
                <a:solidFill>
                  <a:srgbClr val="267B71"/>
                </a:solidFill>
                <a:latin typeface="Segoe UI"/>
                <a:ea typeface="Segoe UI"/>
                <a:cs typeface="Segoe UI"/>
              </a:rPr>
              <a:t>8</a:t>
            </a:r>
          </a:p>
        </p:txBody>
      </p:sp>
      <p:sp>
        <p:nvSpPr>
          <p:cNvPr id="7" name="">
            <a:extLst xmlns:a="http://schemas.openxmlformats.org/drawingml/2006/main">
              <a:ext uri="{FF2B5EF4-FFF2-40B4-BE49-F238E27FC236}">
                <a16:creationId xmlns:a16="http://schemas.microsoft.com/office/drawing/2014/main" id="{F5336854-C0E0-4A33-A685-12A55647EBDE}"/>
              </a:ext>
            </a:extLst>
          </p:cNvPr>
          <p:cNvSpPr>
            <a:spLocks xmlns:a="http://schemas.openxmlformats.org/drawingml/2006/main" noGrp="1"/>
          </p:cNvSpPr>
          <p:nvPr/>
        </p:nvSpPr>
        <p:spPr>
          <a:xfrm xmlns:a="http://schemas.openxmlformats.org/drawingml/2006/main">
            <a:off x="4429125" y="338137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F38"/>
                </a:solidFill>
                <a:latin typeface="Segoe UI"/>
                <a:ea typeface="Segoe UI"/>
                <a:cs typeface="Segoe UI"/>
              </a:defRPr>
            </a:defPPr>
          </a:lstStyle>
          <a:p xmlns:a="http://schemas.openxmlformats.org/drawingml/2006/main">
            <a:pPr>
              <a:buNone/>
              <a:defRPr sz="2025" b="0">
                <a:solidFill>
                  <a:srgbClr val="173F38"/>
                </a:solidFill>
                <a:latin typeface="Segoe UI"/>
                <a:ea typeface="Segoe UI"/>
                <a:cs typeface="Segoe UI"/>
              </a:defRPr>
            </a:pPr>
            <a:r>
              <a:rPr sz="2025" b="0">
                <a:solidFill>
                  <a:srgbClr val="173F38"/>
                </a:solidFill>
                <a:latin typeface="Segoe UI"/>
                <a:ea typeface="Segoe UI"/>
                <a:cs typeface="Segoe UI"/>
              </a:rPr>
              <a:t>days per patient</a:t>
            </a:r>
          </a:p>
        </p:txBody>
      </p:sp>
      <p:sp>
        <p:nvSpPr>
          <p:cNvPr id="8" name="">
            <a:extLst xmlns:a="http://schemas.openxmlformats.org/drawingml/2006/main">
              <a:ext uri="{FF2B5EF4-FFF2-40B4-BE49-F238E27FC236}">
                <a16:creationId xmlns:a16="http://schemas.microsoft.com/office/drawing/2014/main" id="{432FEA22-E470-4CB2-9468-5AAF26126448}"/>
              </a:ext>
            </a:extLst>
          </p:cNvPr>
          <p:cNvSpPr>
            <a:spLocks xmlns:a="http://schemas.openxmlformats.org/drawingml/2006/main" noGrp="1"/>
          </p:cNvSpPr>
          <p:nvPr/>
        </p:nvSpPr>
        <p:spPr>
          <a:xfrm xmlns:a="http://schemas.openxmlformats.org/drawingml/2006/main">
            <a:off x="8191500" y="223837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267B71"/>
                </a:solidFill>
                <a:latin typeface="Segoe UI"/>
                <a:ea typeface="Segoe UI"/>
                <a:cs typeface="Segoe UI"/>
              </a:defRPr>
            </a:defPPr>
          </a:lstStyle>
          <a:p xmlns:a="http://schemas.openxmlformats.org/drawingml/2006/main">
            <a:pPr>
              <a:buNone/>
              <a:defRPr sz="4950" b="1">
                <a:solidFill>
                  <a:srgbClr val="267B71"/>
                </a:solidFill>
                <a:latin typeface="Segoe UI"/>
                <a:ea typeface="Segoe UI"/>
                <a:cs typeface="Segoe UI"/>
              </a:defRPr>
            </a:pPr>
            <a:r>
              <a:rPr sz="4950" b="1">
                <a:solidFill>
                  <a:srgbClr val="267B71"/>
                </a:solidFill>
                <a:latin typeface="Segoe UI"/>
                <a:ea typeface="Segoe UI"/>
                <a:cs typeface="Segoe UI"/>
              </a:rPr>
              <a:t>207,360</a:t>
            </a:r>
          </a:p>
        </p:txBody>
      </p:sp>
      <p:sp>
        <p:nvSpPr>
          <p:cNvPr id="9" name="">
            <a:extLst xmlns:a="http://schemas.openxmlformats.org/drawingml/2006/main">
              <a:ext uri="{FF2B5EF4-FFF2-40B4-BE49-F238E27FC236}">
                <a16:creationId xmlns:a16="http://schemas.microsoft.com/office/drawing/2014/main" id="{6A2FD252-EBA2-4283-AE16-C0BF0F51DFC2}"/>
              </a:ext>
            </a:extLst>
          </p:cNvPr>
          <p:cNvSpPr>
            <a:spLocks xmlns:a="http://schemas.openxmlformats.org/drawingml/2006/main" noGrp="1"/>
          </p:cNvSpPr>
          <p:nvPr/>
        </p:nvSpPr>
        <p:spPr>
          <a:xfrm xmlns:a="http://schemas.openxmlformats.org/drawingml/2006/main">
            <a:off x="8191500" y="338137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F38"/>
                </a:solidFill>
                <a:latin typeface="Segoe UI"/>
                <a:ea typeface="Segoe UI"/>
                <a:cs typeface="Segoe UI"/>
              </a:defRPr>
            </a:defPPr>
          </a:lstStyle>
          <a:p xmlns:a="http://schemas.openxmlformats.org/drawingml/2006/main">
            <a:pPr>
              <a:buNone/>
              <a:defRPr sz="2025" b="0">
                <a:solidFill>
                  <a:srgbClr val="173F38"/>
                </a:solidFill>
                <a:latin typeface="Segoe UI"/>
                <a:ea typeface="Segoe UI"/>
                <a:cs typeface="Segoe UI"/>
              </a:defRPr>
            </a:pPr>
            <a:r>
              <a:rPr sz="2025" b="0">
                <a:solidFill>
                  <a:srgbClr val="173F38"/>
                </a:solidFill>
                <a:latin typeface="Segoe UI"/>
                <a:ea typeface="Segoe UI"/>
                <a:cs typeface="Segoe UI"/>
              </a:rPr>
              <a:t>wearable records</a:t>
            </a:r>
          </a:p>
        </p:txBody>
      </p:sp>
      <p:sp>
        <p:nvSpPr>
          <p:cNvPr id="10" name="">
            <a:extLst xmlns:a="http://schemas.openxmlformats.org/drawingml/2006/main">
              <a:ext uri="{FF2B5EF4-FFF2-40B4-BE49-F238E27FC236}">
                <a16:creationId xmlns:a16="http://schemas.microsoft.com/office/drawing/2014/main" id="{83178DDD-63BE-474F-86FD-B3B49AA93607}"/>
              </a:ext>
            </a:extLst>
          </p:cNvPr>
          <p:cNvSpPr>
            <a:spLocks xmlns:a="http://schemas.openxmlformats.org/drawingml/2006/main" noGrp="1"/>
          </p:cNvSpPr>
          <p:nvPr/>
        </p:nvSpPr>
        <p:spPr>
          <a:xfrm xmlns:a="http://schemas.openxmlformats.org/drawingml/2006/main">
            <a:off x="666750" y="46005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677D72"/>
                </a:solidFill>
                <a:latin typeface="Segoe UI"/>
                <a:ea typeface="Segoe UI"/>
                <a:cs typeface="Segoe UI"/>
              </a:defRPr>
            </a:defPPr>
          </a:lstStyle>
          <a:p xmlns:a="http://schemas.openxmlformats.org/drawingml/2006/main">
            <a:pPr>
              <a:buNone/>
              <a:defRPr sz="2175" b="0">
                <a:solidFill>
                  <a:srgbClr val="677D72"/>
                </a:solidFill>
                <a:latin typeface="Segoe UI"/>
                <a:ea typeface="Segoe UI"/>
                <a:cs typeface="Segoe UI"/>
              </a:defRPr>
            </a:pPr>
            <a:r>
              <a:rPr sz="2175" b="0">
                <a:solidFill>
                  <a:srgbClr val="677D72"/>
                </a:solidFill>
                <a:latin typeface="Segoe UI"/>
                <a:ea typeface="Segoe UI"/>
                <a:cs typeface="Segoe UI"/>
              </a:rPr>
              <a:t>The generator combines meals, daily rhythms, patient differences, activity, sleep and correlated noise.</a:t>
            </a:r>
          </a:p>
        </p:txBody>
      </p:sp>
      <p:sp>
        <p:nvSpPr>
          <p:cNvPr id="11" name="">
            <a:extLst xmlns:a="http://schemas.openxmlformats.org/drawingml/2006/main">
              <a:ext uri="{FF2B5EF4-FFF2-40B4-BE49-F238E27FC236}">
                <a16:creationId xmlns:a16="http://schemas.microsoft.com/office/drawing/2014/main" id="{73CE21E0-36CF-4A6D-A6A9-9E255D7520BF}"/>
              </a:ext>
            </a:extLst>
          </p:cNvPr>
          <p:cNvSpPr>
            <a:spLocks xmlns:a="http://schemas.openxmlformats.org/drawingml/2006/main" noGrp="1"/>
          </p:cNvSpPr>
          <p:nvPr/>
        </p:nvSpPr>
        <p:spPr>
          <a:xfrm xmlns:a="http://schemas.openxmlformats.org/drawingml/2006/main">
            <a:off x="666750" y="5810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Future observations supply labels. The predictor receives only current and past data.</a:t>
            </a:r>
          </a:p>
        </p:txBody>
      </p:sp>
      <p:sp>
        <p:nvSpPr>
          <p:cNvPr id="13" name="">
            <a:extLst xmlns:a="http://schemas.openxmlformats.org/drawingml/2006/main">
              <a:ext uri="{FF2B5EF4-FFF2-40B4-BE49-F238E27FC236}">
                <a16:creationId xmlns:a16="http://schemas.microsoft.com/office/drawing/2014/main" id="{FBAE0ECE-7EDA-416B-B3A3-62F1A8FEEE87}"/>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evidence: sensor event log and full research CSV files</a:t>
            </a:r>
          </a:p>
        </p:txBody>
      </p:sp>
    </p:spTree>
    <p:extLst>
      <p:ext uri="{BB962C8B-B14F-4D97-AF65-F5344CB8AC3E}">
        <p14:creationId xmlns:p14="http://schemas.microsoft.com/office/powerpoint/2010/main" val="515145265"/>
      </p:ext>
    </p:extLst>
  </p:cSld>
</p:sld>
</file>

<file path=ppt/slides/slide6.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0D20CD07-3BAF-4DEA-9468-63374B0B92F1}"/>
              </a:ext>
            </a:extLst>
          </p:cNvPr>
          <p:cNvCxnSpPr>
            <a:stCxn xmlns:a="http://schemas.openxmlformats.org/drawingml/2006/main" id="16" idx="3"/>
            <a:endCxn xmlns:a="http://schemas.openxmlformats.org/drawingml/2006/main" id="19" idx="1"/>
          </p:cNvCxnSpPr>
          <p:nvPr/>
        </p:nvCxnSpPr>
        <p:spPr>
          <a:xfrm xmlns:a="http://schemas.openxmlformats.org/drawingml/2006/main" flipV="1">
            <a:off x="8810625" y="3695700"/>
            <a:ext cx="714375" cy="981075"/>
          </a:xfrm>
          <a:prstGeom xmlns:a="http://schemas.openxmlformats.org/drawingml/2006/main" prst="bentConnector3">
            <a:avLst>
              <a:gd name="adj1" fmla="val 50000"/>
            </a:avLst>
          </a:prstGeom>
          <a:ln xmlns:a="http://schemas.openxmlformats.org/drawingml/2006/main" w="19050">
            <a:solidFill>
              <a:srgbClr val="267B71"/>
            </a:solidFill>
            <a:tailEnd type="arrow" w="med" len="med"/>
          </a:ln>
        </p:spPr>
      </p:cxnSp>
      <p:cxnSp>
        <p:nvCxnSpPr>
          <p:cNvPr id="26" name="">
            <a:extLst xmlns:a="http://schemas.openxmlformats.org/drawingml/2006/main">
              <a:ext uri="{FF2B5EF4-FFF2-40B4-BE49-F238E27FC236}">
                <a16:creationId xmlns:a16="http://schemas.microsoft.com/office/drawing/2014/main" id="{7D7F58C8-2CAE-4B1A-BF75-14E50BEFF470}"/>
              </a:ext>
            </a:extLst>
          </p:cNvPr>
          <p:cNvCxnSpPr>
            <a:stCxn xmlns:a="http://schemas.openxmlformats.org/drawingml/2006/main" id="13" idx="3"/>
            <a:endCxn xmlns:a="http://schemas.openxmlformats.org/drawingml/2006/main" id="19" idx="1"/>
          </p:cNvCxnSpPr>
          <p:nvPr/>
        </p:nvCxnSpPr>
        <p:spPr>
          <a:xfrm xmlns:a="http://schemas.openxmlformats.org/drawingml/2006/main">
            <a:off x="8810625" y="2676525"/>
            <a:ext cx="714375" cy="1019175"/>
          </a:xfrm>
          <a:prstGeom xmlns:a="http://schemas.openxmlformats.org/drawingml/2006/main" prst="bentConnector3">
            <a:avLst>
              <a:gd name="adj1" fmla="val 50000"/>
            </a:avLst>
          </a:prstGeom>
          <a:ln xmlns:a="http://schemas.openxmlformats.org/drawingml/2006/main" w="19050">
            <a:solidFill>
              <a:srgbClr val="267B71"/>
            </a:solidFill>
            <a:tailEnd type="arrow" w="med" len="med"/>
          </a:ln>
        </p:spPr>
      </p:cxnSp>
      <p:cxnSp>
        <p:nvCxnSpPr>
          <p:cNvPr id="25" name="">
            <a:extLst xmlns:a="http://schemas.openxmlformats.org/drawingml/2006/main">
              <a:ext uri="{FF2B5EF4-FFF2-40B4-BE49-F238E27FC236}">
                <a16:creationId xmlns:a16="http://schemas.microsoft.com/office/drawing/2014/main" id="{E25CD77A-F847-404C-BF39-CFC70A9FC751}"/>
              </a:ext>
            </a:extLst>
          </p:cNvPr>
          <p:cNvCxnSpPr>
            <a:stCxn xmlns:a="http://schemas.openxmlformats.org/drawingml/2006/main" id="10" idx="3"/>
            <a:endCxn xmlns:a="http://schemas.openxmlformats.org/drawingml/2006/main" id="16" idx="1"/>
          </p:cNvCxnSpPr>
          <p:nvPr/>
        </p:nvCxnSpPr>
        <p:spPr>
          <a:xfrm xmlns:a="http://schemas.openxmlformats.org/drawingml/2006/main">
            <a:off x="5953125" y="3695700"/>
            <a:ext cx="762000" cy="981075"/>
          </a:xfrm>
          <a:prstGeom xmlns:a="http://schemas.openxmlformats.org/drawingml/2006/main" prst="bentConnector3">
            <a:avLst>
              <a:gd name="adj1" fmla="val 50000"/>
            </a:avLst>
          </a:prstGeom>
          <a:ln xmlns:a="http://schemas.openxmlformats.org/drawingml/2006/main" w="19050">
            <a:solidFill>
              <a:srgbClr val="267B71"/>
            </a:solidFill>
            <a:tailEnd type="arrow" w="med" len="med"/>
          </a:ln>
        </p:spPr>
      </p:cxnSp>
      <p:cxnSp>
        <p:nvCxnSpPr>
          <p:cNvPr id="24" name="">
            <a:extLst xmlns:a="http://schemas.openxmlformats.org/drawingml/2006/main">
              <a:ext uri="{FF2B5EF4-FFF2-40B4-BE49-F238E27FC236}">
                <a16:creationId xmlns:a16="http://schemas.microsoft.com/office/drawing/2014/main" id="{ECC485BC-A39A-4570-9FC0-15872D420BE0}"/>
              </a:ext>
            </a:extLst>
          </p:cNvPr>
          <p:cNvCxnSpPr>
            <a:stCxn xmlns:a="http://schemas.openxmlformats.org/drawingml/2006/main" id="10" idx="3"/>
            <a:endCxn xmlns:a="http://schemas.openxmlformats.org/drawingml/2006/main" id="13" idx="1"/>
          </p:cNvCxnSpPr>
          <p:nvPr/>
        </p:nvCxnSpPr>
        <p:spPr>
          <a:xfrm xmlns:a="http://schemas.openxmlformats.org/drawingml/2006/main" flipV="1">
            <a:off x="5953125" y="2676525"/>
            <a:ext cx="762000" cy="1019175"/>
          </a:xfrm>
          <a:prstGeom xmlns:a="http://schemas.openxmlformats.org/drawingml/2006/main" prst="bentConnector3">
            <a:avLst>
              <a:gd name="adj1" fmla="val 50000"/>
            </a:avLst>
          </a:prstGeom>
          <a:ln xmlns:a="http://schemas.openxmlformats.org/drawingml/2006/main" w="19050">
            <a:solidFill>
              <a:srgbClr val="267B71"/>
            </a:solidFill>
            <a:tailEnd type="arrow" w="med" len="med"/>
          </a:ln>
        </p:spPr>
      </p:cxnSp>
      <p:cxnSp>
        <p:nvCxnSpPr>
          <p:cNvPr id="23" name="">
            <a:extLst xmlns:a="http://schemas.openxmlformats.org/drawingml/2006/main">
              <a:ext uri="{FF2B5EF4-FFF2-40B4-BE49-F238E27FC236}">
                <a16:creationId xmlns:a16="http://schemas.microsoft.com/office/drawing/2014/main" id="{B1875266-D1F3-4B02-8385-64437D465DE1}"/>
              </a:ext>
            </a:extLst>
          </p:cNvPr>
          <p:cNvCxnSpPr>
            <a:stCxn xmlns:a="http://schemas.openxmlformats.org/drawingml/2006/main" id="7" idx="3"/>
            <a:endCxn xmlns:a="http://schemas.openxmlformats.org/drawingml/2006/main" id="10" idx="1"/>
          </p:cNvCxnSpPr>
          <p:nvPr/>
        </p:nvCxnSpPr>
        <p:spPr>
          <a:xfrm xmlns:a="http://schemas.openxmlformats.org/drawingml/2006/main" flipV="1">
            <a:off x="2952750" y="3695700"/>
            <a:ext cx="762000" cy="981075"/>
          </a:xfrm>
          <a:prstGeom xmlns:a="http://schemas.openxmlformats.org/drawingml/2006/main" prst="bentConnector3">
            <a:avLst>
              <a:gd name="adj1" fmla="val 50000"/>
            </a:avLst>
          </a:prstGeom>
          <a:ln xmlns:a="http://schemas.openxmlformats.org/drawingml/2006/main" w="19050">
            <a:solidFill>
              <a:srgbClr val="267B71"/>
            </a:solidFill>
            <a:tailEnd type="arrow" w="med" len="med"/>
          </a:ln>
        </p:spPr>
      </p:cxnSp>
      <p:cxnSp>
        <p:nvCxnSpPr>
          <p:cNvPr id="22" name="">
            <a:extLst xmlns:a="http://schemas.openxmlformats.org/drawingml/2006/main">
              <a:ext uri="{FF2B5EF4-FFF2-40B4-BE49-F238E27FC236}">
                <a16:creationId xmlns:a16="http://schemas.microsoft.com/office/drawing/2014/main" id="{886930DF-7055-43A1-B4C6-BFEAE76B5A3D}"/>
              </a:ext>
            </a:extLst>
          </p:cNvPr>
          <p:cNvCxnSpPr>
            <a:stCxn xmlns:a="http://schemas.openxmlformats.org/drawingml/2006/main" id="4" idx="3"/>
            <a:endCxn xmlns:a="http://schemas.openxmlformats.org/drawingml/2006/main" id="10" idx="1"/>
          </p:cNvCxnSpPr>
          <p:nvPr/>
        </p:nvCxnSpPr>
        <p:spPr>
          <a:xfrm xmlns:a="http://schemas.openxmlformats.org/drawingml/2006/main">
            <a:off x="2952750" y="2676525"/>
            <a:ext cx="762000" cy="1019175"/>
          </a:xfrm>
          <a:prstGeom xmlns:a="http://schemas.openxmlformats.org/drawingml/2006/main" prst="bentConnector3">
            <a:avLst>
              <a:gd name="adj1" fmla="val 50000"/>
            </a:avLst>
          </a:prstGeom>
          <a:ln xmlns:a="http://schemas.openxmlformats.org/drawingml/2006/main" w="19050">
            <a:solidFill>
              <a:srgbClr val="267B71"/>
            </a:solidFill>
            <a:tailEnd type="arrow" w="med" len="med"/>
          </a:ln>
        </p:spPr>
      </p:cxnSp>
      <p:sp>
        <p:nvSpPr>
          <p:cNvPr id="29" name="">
            <a:extLst xmlns:a="http://schemas.openxmlformats.org/drawingml/2006/main">
              <a:ext uri="{FF2B5EF4-FFF2-40B4-BE49-F238E27FC236}">
                <a16:creationId xmlns:a16="http://schemas.microsoft.com/office/drawing/2014/main" id="{DECA32B2-B39C-426C-A3C7-F4B0C7908812}"/>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System architecture</a:t>
            </a:r>
          </a:p>
        </p:txBody>
      </p:sp>
      <p:sp>
        <p:nvSpPr>
          <p:cNvPr id="2" name="">
            <a:extLst xmlns:a="http://schemas.openxmlformats.org/drawingml/2006/main">
              <a:ext uri="{FF2B5EF4-FFF2-40B4-BE49-F238E27FC236}">
                <a16:creationId xmlns:a16="http://schemas.microsoft.com/office/drawing/2014/main" id="{220AF777-510B-48CC-9E55-E4919D2E5176}"/>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C8867978-B481-4BCF-9E3C-599C5620BA8A}"/>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05:00 - 06:20   6/18</a:t>
            </a:r>
          </a:p>
        </p:txBody>
      </p:sp>
      <p:sp>
        <p:nvSpPr>
          <p:cNvPr id="4" name="">
            <a:extLst xmlns:a="http://schemas.openxmlformats.org/drawingml/2006/main">
              <a:ext uri="{FF2B5EF4-FFF2-40B4-BE49-F238E27FC236}">
                <a16:creationId xmlns:a16="http://schemas.microsoft.com/office/drawing/2014/main" id="{FAAEBDD9-2FE4-4AE9-B676-51D36EDFD29D}"/>
              </a:ext>
            </a:extLst>
          </p:cNvPr>
          <p:cNvSpPr>
            <a:spLocks xmlns:a="http://schemas.openxmlformats.org/drawingml/2006/main" noGrp="1"/>
          </p:cNvSpPr>
          <p:nvPr/>
        </p:nvSpPr>
        <p:spPr>
          <a:xfrm xmlns:a="http://schemas.openxmlformats.org/drawingml/2006/main">
            <a:off x="666750" y="2095500"/>
            <a:ext cx="2286000" cy="1162050"/>
          </a:xfrm>
          <a:prstGeom xmlns:a="http://schemas.openxmlformats.org/drawingml/2006/main" prst="rect">
            <a:avLst/>
          </a:prstGeom>
          <a:solidFill xmlns:a="http://schemas.openxmlformats.org/drawingml/2006/main">
            <a:srgbClr val="E5F0E7"/>
          </a:solidFill>
          <a:ln xmlns:a="http://schemas.openxmlformats.org/drawingml/2006/main" w="9525">
            <a:solidFill>
              <a:srgbClr val="D4E1D6"/>
            </a:solidFill>
          </a:ln>
        </p:spPr>
      </p:sp>
      <p:sp>
        <p:nvSpPr>
          <p:cNvPr id="5" name="">
            <a:extLst xmlns:a="http://schemas.openxmlformats.org/drawingml/2006/main">
              <a:ext uri="{FF2B5EF4-FFF2-40B4-BE49-F238E27FC236}">
                <a16:creationId xmlns:a16="http://schemas.microsoft.com/office/drawing/2014/main" id="{5F240D89-CB58-4689-89C3-17DE44E33A69}"/>
              </a:ext>
            </a:extLst>
          </p:cNvPr>
          <p:cNvSpPr>
            <a:spLocks xmlns:a="http://schemas.openxmlformats.org/drawingml/2006/main" noGrp="1"/>
          </p:cNvSpPr>
          <p:nvPr/>
        </p:nvSpPr>
        <p:spPr>
          <a:xfrm xmlns:a="http://schemas.openxmlformats.org/drawingml/2006/main">
            <a:off x="828675" y="2228850"/>
            <a:ext cx="1962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F38"/>
                </a:solidFill>
                <a:latin typeface="Segoe UI"/>
                <a:ea typeface="Segoe UI"/>
                <a:cs typeface="Segoe UI"/>
              </a:defRPr>
            </a:defPPr>
          </a:lstStyle>
          <a:p xmlns:a="http://schemas.openxmlformats.org/drawingml/2006/main">
            <a:pPr>
              <a:buNone/>
              <a:defRPr sz="1875" b="1">
                <a:solidFill>
                  <a:srgbClr val="173F38"/>
                </a:solidFill>
                <a:latin typeface="Segoe UI"/>
                <a:ea typeface="Segoe UI"/>
                <a:cs typeface="Segoe UI"/>
              </a:defRPr>
            </a:pPr>
            <a:r>
              <a:rPr sz="1875" b="1">
                <a:solidFill>
                  <a:srgbClr val="173F38"/>
                </a:solidFill>
                <a:latin typeface="Segoe UI"/>
                <a:ea typeface="Segoe UI"/>
                <a:cs typeface="Segoe UI"/>
              </a:rPr>
              <a:t>Static EHR</a:t>
            </a:r>
          </a:p>
        </p:txBody>
      </p:sp>
      <p:sp>
        <p:nvSpPr>
          <p:cNvPr id="6" name="">
            <a:extLst xmlns:a="http://schemas.openxmlformats.org/drawingml/2006/main">
              <a:ext uri="{FF2B5EF4-FFF2-40B4-BE49-F238E27FC236}">
                <a16:creationId xmlns:a16="http://schemas.microsoft.com/office/drawing/2014/main" id="{068FFDCA-7D8A-498D-BA92-815BC2B93491}"/>
              </a:ext>
            </a:extLst>
          </p:cNvPr>
          <p:cNvSpPr>
            <a:spLocks xmlns:a="http://schemas.openxmlformats.org/drawingml/2006/main" noGrp="1"/>
          </p:cNvSpPr>
          <p:nvPr/>
        </p:nvSpPr>
        <p:spPr>
          <a:xfrm xmlns:a="http://schemas.openxmlformats.org/drawingml/2006/main">
            <a:off x="828675" y="2638425"/>
            <a:ext cx="1962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77D72"/>
                </a:solidFill>
                <a:latin typeface="Segoe UI"/>
                <a:ea typeface="Segoe UI"/>
                <a:cs typeface="Segoe UI"/>
              </a:defRPr>
            </a:defPPr>
          </a:lstStyle>
          <a:p xmlns:a="http://schemas.openxmlformats.org/drawingml/2006/main">
            <a:pPr>
              <a:buNone/>
              <a:defRPr sz="1575" b="0">
                <a:solidFill>
                  <a:srgbClr val="677D72"/>
                </a:solidFill>
                <a:latin typeface="Segoe UI"/>
                <a:ea typeface="Segoe UI"/>
                <a:cs typeface="Segoe UI"/>
              </a:defRPr>
            </a:pPr>
            <a:r>
              <a:rPr sz="1575" b="0">
                <a:solidFill>
                  <a:srgbClr val="677D72"/>
                </a:solidFill>
                <a:latin typeface="Segoe UI"/>
                <a:ea typeface="Segoe UI"/>
                <a:cs typeface="Segoe UI"/>
              </a:rPr>
              <a:t>History and lab context</a:t>
            </a:r>
          </a:p>
        </p:txBody>
      </p:sp>
      <p:sp>
        <p:nvSpPr>
          <p:cNvPr id="7" name="">
            <a:extLst xmlns:a="http://schemas.openxmlformats.org/drawingml/2006/main">
              <a:ext uri="{FF2B5EF4-FFF2-40B4-BE49-F238E27FC236}">
                <a16:creationId xmlns:a16="http://schemas.microsoft.com/office/drawing/2014/main" id="{13692E29-8B24-401B-8949-70208CE73A2C}"/>
              </a:ext>
            </a:extLst>
          </p:cNvPr>
          <p:cNvSpPr>
            <a:spLocks xmlns:a="http://schemas.openxmlformats.org/drawingml/2006/main" noGrp="1"/>
          </p:cNvSpPr>
          <p:nvPr/>
        </p:nvSpPr>
        <p:spPr>
          <a:xfrm xmlns:a="http://schemas.openxmlformats.org/drawingml/2006/main">
            <a:off x="666750" y="4095750"/>
            <a:ext cx="2286000" cy="1162050"/>
          </a:xfrm>
          <a:prstGeom xmlns:a="http://schemas.openxmlformats.org/drawingml/2006/main" prst="rect">
            <a:avLst/>
          </a:prstGeom>
          <a:solidFill xmlns:a="http://schemas.openxmlformats.org/drawingml/2006/main">
            <a:srgbClr val="E5F0E7"/>
          </a:solidFill>
          <a:ln xmlns:a="http://schemas.openxmlformats.org/drawingml/2006/main" w="9525">
            <a:solidFill>
              <a:srgbClr val="D4E1D6"/>
            </a:solidFill>
          </a:ln>
        </p:spPr>
      </p:sp>
      <p:sp>
        <p:nvSpPr>
          <p:cNvPr id="8" name="">
            <a:extLst xmlns:a="http://schemas.openxmlformats.org/drawingml/2006/main">
              <a:ext uri="{FF2B5EF4-FFF2-40B4-BE49-F238E27FC236}">
                <a16:creationId xmlns:a16="http://schemas.microsoft.com/office/drawing/2014/main" id="{1FEA6FAD-1EB8-40CF-9990-56216B0852BC}"/>
              </a:ext>
            </a:extLst>
          </p:cNvPr>
          <p:cNvSpPr>
            <a:spLocks xmlns:a="http://schemas.openxmlformats.org/drawingml/2006/main" noGrp="1"/>
          </p:cNvSpPr>
          <p:nvPr/>
        </p:nvSpPr>
        <p:spPr>
          <a:xfrm xmlns:a="http://schemas.openxmlformats.org/drawingml/2006/main">
            <a:off x="828675" y="4229100"/>
            <a:ext cx="1962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F38"/>
                </a:solidFill>
                <a:latin typeface="Segoe UI"/>
                <a:ea typeface="Segoe UI"/>
                <a:cs typeface="Segoe UI"/>
              </a:defRPr>
            </a:defPPr>
          </a:lstStyle>
          <a:p xmlns:a="http://schemas.openxmlformats.org/drawingml/2006/main">
            <a:pPr>
              <a:buNone/>
              <a:defRPr sz="1875" b="1">
                <a:solidFill>
                  <a:srgbClr val="173F38"/>
                </a:solidFill>
                <a:latin typeface="Segoe UI"/>
                <a:ea typeface="Segoe UI"/>
                <a:cs typeface="Segoe UI"/>
              </a:defRPr>
            </a:pPr>
            <a:r>
              <a:rPr sz="1875" b="1">
                <a:solidFill>
                  <a:srgbClr val="173F38"/>
                </a:solidFill>
                <a:latin typeface="Segoe UI"/>
                <a:ea typeface="Segoe UI"/>
                <a:cs typeface="Segoe UI"/>
              </a:rPr>
              <a:t>Wearable stream</a:t>
            </a:r>
          </a:p>
        </p:txBody>
      </p:sp>
      <p:sp>
        <p:nvSpPr>
          <p:cNvPr id="9" name="">
            <a:extLst xmlns:a="http://schemas.openxmlformats.org/drawingml/2006/main">
              <a:ext uri="{FF2B5EF4-FFF2-40B4-BE49-F238E27FC236}">
                <a16:creationId xmlns:a16="http://schemas.microsoft.com/office/drawing/2014/main" id="{7B1692C9-0DF9-4D06-B98C-D3D2F034BCC2}"/>
              </a:ext>
            </a:extLst>
          </p:cNvPr>
          <p:cNvSpPr>
            <a:spLocks xmlns:a="http://schemas.openxmlformats.org/drawingml/2006/main" noGrp="1"/>
          </p:cNvSpPr>
          <p:nvPr/>
        </p:nvSpPr>
        <p:spPr>
          <a:xfrm xmlns:a="http://schemas.openxmlformats.org/drawingml/2006/main">
            <a:off x="828675" y="4638675"/>
            <a:ext cx="1962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77D72"/>
                </a:solidFill>
                <a:latin typeface="Segoe UI"/>
                <a:ea typeface="Segoe UI"/>
                <a:cs typeface="Segoe UI"/>
              </a:defRPr>
            </a:defPPr>
          </a:lstStyle>
          <a:p xmlns:a="http://schemas.openxmlformats.org/drawingml/2006/main">
            <a:pPr>
              <a:buNone/>
              <a:defRPr sz="1575" b="0">
                <a:solidFill>
                  <a:srgbClr val="677D72"/>
                </a:solidFill>
                <a:latin typeface="Segoe UI"/>
                <a:ea typeface="Segoe UI"/>
                <a:cs typeface="Segoe UI"/>
              </a:defRPr>
            </a:pPr>
            <a:r>
              <a:rPr sz="1575" b="0">
                <a:solidFill>
                  <a:srgbClr val="677D72"/>
                </a:solidFill>
                <a:latin typeface="Segoe UI"/>
                <a:ea typeface="Segoe UI"/>
                <a:cs typeface="Segoe UI"/>
              </a:rPr>
              <a:t>Chronological signals</a:t>
            </a:r>
          </a:p>
        </p:txBody>
      </p:sp>
      <p:sp>
        <p:nvSpPr>
          <p:cNvPr id="10" name="">
            <a:extLst xmlns:a="http://schemas.openxmlformats.org/drawingml/2006/main">
              <a:ext uri="{FF2B5EF4-FFF2-40B4-BE49-F238E27FC236}">
                <a16:creationId xmlns:a16="http://schemas.microsoft.com/office/drawing/2014/main" id="{3C70366F-6878-4056-8EDA-DB3539444B0F}"/>
              </a:ext>
            </a:extLst>
          </p:cNvPr>
          <p:cNvSpPr>
            <a:spLocks xmlns:a="http://schemas.openxmlformats.org/drawingml/2006/main" noGrp="1"/>
          </p:cNvSpPr>
          <p:nvPr/>
        </p:nvSpPr>
        <p:spPr>
          <a:xfrm xmlns:a="http://schemas.openxmlformats.org/drawingml/2006/main">
            <a:off x="3714750" y="3114675"/>
            <a:ext cx="2238375" cy="1162050"/>
          </a:xfrm>
          <a:prstGeom xmlns:a="http://schemas.openxmlformats.org/drawingml/2006/main" prst="rect">
            <a:avLst/>
          </a:prstGeom>
          <a:solidFill xmlns:a="http://schemas.openxmlformats.org/drawingml/2006/main">
            <a:srgbClr val="E5F0E7"/>
          </a:solidFill>
          <a:ln xmlns:a="http://schemas.openxmlformats.org/drawingml/2006/main" w="9525">
            <a:solidFill>
              <a:srgbClr val="D4E1D6"/>
            </a:solidFill>
          </a:ln>
        </p:spPr>
      </p:sp>
      <p:sp>
        <p:nvSpPr>
          <p:cNvPr id="11" name="">
            <a:extLst xmlns:a="http://schemas.openxmlformats.org/drawingml/2006/main">
              <a:ext uri="{FF2B5EF4-FFF2-40B4-BE49-F238E27FC236}">
                <a16:creationId xmlns:a16="http://schemas.microsoft.com/office/drawing/2014/main" id="{671A54EB-7573-421C-AF28-707DB70F05D1}"/>
              </a:ext>
            </a:extLst>
          </p:cNvPr>
          <p:cNvSpPr>
            <a:spLocks xmlns:a="http://schemas.openxmlformats.org/drawingml/2006/main" noGrp="1"/>
          </p:cNvSpPr>
          <p:nvPr/>
        </p:nvSpPr>
        <p:spPr>
          <a:xfrm xmlns:a="http://schemas.openxmlformats.org/drawingml/2006/main">
            <a:off x="3876675" y="3248025"/>
            <a:ext cx="1914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F38"/>
                </a:solidFill>
                <a:latin typeface="Segoe UI"/>
                <a:ea typeface="Segoe UI"/>
                <a:cs typeface="Segoe UI"/>
              </a:defRPr>
            </a:defPPr>
          </a:lstStyle>
          <a:p xmlns:a="http://schemas.openxmlformats.org/drawingml/2006/main">
            <a:pPr>
              <a:buNone/>
              <a:defRPr sz="1875" b="1">
                <a:solidFill>
                  <a:srgbClr val="173F38"/>
                </a:solidFill>
                <a:latin typeface="Segoe UI"/>
                <a:ea typeface="Segoe UI"/>
                <a:cs typeface="Segoe UI"/>
              </a:defRPr>
            </a:pPr>
            <a:r>
              <a:rPr sz="1875" b="1">
                <a:solidFill>
                  <a:srgbClr val="173F38"/>
                </a:solidFill>
                <a:latin typeface="Segoe UI"/>
                <a:ea typeface="Segoe UI"/>
                <a:cs typeface="Segoe UI"/>
              </a:rPr>
              <a:t>Patient state</a:t>
            </a:r>
          </a:p>
        </p:txBody>
      </p:sp>
      <p:sp>
        <p:nvSpPr>
          <p:cNvPr id="12" name="">
            <a:extLst xmlns:a="http://schemas.openxmlformats.org/drawingml/2006/main">
              <a:ext uri="{FF2B5EF4-FFF2-40B4-BE49-F238E27FC236}">
                <a16:creationId xmlns:a16="http://schemas.microsoft.com/office/drawing/2014/main" id="{899D0919-3DB9-4F09-845A-E16B242FADAE}"/>
              </a:ext>
            </a:extLst>
          </p:cNvPr>
          <p:cNvSpPr>
            <a:spLocks xmlns:a="http://schemas.openxmlformats.org/drawingml/2006/main" noGrp="1"/>
          </p:cNvSpPr>
          <p:nvPr/>
        </p:nvSpPr>
        <p:spPr>
          <a:xfrm xmlns:a="http://schemas.openxmlformats.org/drawingml/2006/main">
            <a:off x="3876675" y="3657600"/>
            <a:ext cx="1914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77D72"/>
                </a:solidFill>
                <a:latin typeface="Segoe UI"/>
                <a:ea typeface="Segoe UI"/>
                <a:cs typeface="Segoe UI"/>
              </a:defRPr>
            </a:defPPr>
          </a:lstStyle>
          <a:p xmlns:a="http://schemas.openxmlformats.org/drawingml/2006/main">
            <a:pPr>
              <a:buNone/>
              <a:defRPr sz="1575" b="0">
                <a:solidFill>
                  <a:srgbClr val="677D72"/>
                </a:solidFill>
                <a:latin typeface="Segoe UI"/>
                <a:ea typeface="Segoe UI"/>
                <a:cs typeface="Segoe UI"/>
              </a:defRPr>
            </a:pPr>
            <a:r>
              <a:rPr sz="1575" b="0">
                <a:solidFill>
                  <a:srgbClr val="677D72"/>
                </a:solidFill>
                <a:latin typeface="Segoe UI"/>
                <a:ea typeface="Segoe UI"/>
                <a:cs typeface="Segoe UI"/>
              </a:rPr>
              <a:t>18 past-only features</a:t>
            </a:r>
          </a:p>
        </p:txBody>
      </p:sp>
      <p:sp>
        <p:nvSpPr>
          <p:cNvPr id="13" name="">
            <a:extLst xmlns:a="http://schemas.openxmlformats.org/drawingml/2006/main">
              <a:ext uri="{FF2B5EF4-FFF2-40B4-BE49-F238E27FC236}">
                <a16:creationId xmlns:a16="http://schemas.microsoft.com/office/drawing/2014/main" id="{5FEAF7FC-6CEC-4059-99E6-67E0F409CA62}"/>
              </a:ext>
            </a:extLst>
          </p:cNvPr>
          <p:cNvSpPr>
            <a:spLocks xmlns:a="http://schemas.openxmlformats.org/drawingml/2006/main" noGrp="1"/>
          </p:cNvSpPr>
          <p:nvPr/>
        </p:nvSpPr>
        <p:spPr>
          <a:xfrm xmlns:a="http://schemas.openxmlformats.org/drawingml/2006/main">
            <a:off x="6715125" y="2095500"/>
            <a:ext cx="2095500" cy="1162050"/>
          </a:xfrm>
          <a:prstGeom xmlns:a="http://schemas.openxmlformats.org/drawingml/2006/main" prst="rect">
            <a:avLst/>
          </a:prstGeom>
          <a:solidFill xmlns:a="http://schemas.openxmlformats.org/drawingml/2006/main">
            <a:srgbClr val="E5F0E7"/>
          </a:solidFill>
          <a:ln xmlns:a="http://schemas.openxmlformats.org/drawingml/2006/main" w="9525">
            <a:solidFill>
              <a:srgbClr val="D4E1D6"/>
            </a:solidFill>
          </a:ln>
        </p:spPr>
      </p:sp>
      <p:sp>
        <p:nvSpPr>
          <p:cNvPr id="14" name="">
            <a:extLst xmlns:a="http://schemas.openxmlformats.org/drawingml/2006/main">
              <a:ext uri="{FF2B5EF4-FFF2-40B4-BE49-F238E27FC236}">
                <a16:creationId xmlns:a16="http://schemas.microsoft.com/office/drawing/2014/main" id="{401B74C3-B8A4-4EA6-8749-8CE492DEA51C}"/>
              </a:ext>
            </a:extLst>
          </p:cNvPr>
          <p:cNvSpPr>
            <a:spLocks xmlns:a="http://schemas.openxmlformats.org/drawingml/2006/main" noGrp="1"/>
          </p:cNvSpPr>
          <p:nvPr/>
        </p:nvSpPr>
        <p:spPr>
          <a:xfrm xmlns:a="http://schemas.openxmlformats.org/drawingml/2006/main">
            <a:off x="6877050" y="2228850"/>
            <a:ext cx="1771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F38"/>
                </a:solidFill>
                <a:latin typeface="Segoe UI"/>
                <a:ea typeface="Segoe UI"/>
                <a:cs typeface="Segoe UI"/>
              </a:defRPr>
            </a:defPPr>
          </a:lstStyle>
          <a:p xmlns:a="http://schemas.openxmlformats.org/drawingml/2006/main">
            <a:pPr>
              <a:buNone/>
              <a:defRPr sz="1875" b="1">
                <a:solidFill>
                  <a:srgbClr val="173F38"/>
                </a:solidFill>
                <a:latin typeface="Segoe UI"/>
                <a:ea typeface="Segoe UI"/>
                <a:cs typeface="Segoe UI"/>
              </a:defRPr>
            </a:pPr>
            <a:r>
              <a:rPr sz="1875" b="1">
                <a:solidFill>
                  <a:srgbClr val="173F38"/>
                </a:solidFill>
                <a:latin typeface="Segoe UI"/>
                <a:ea typeface="Segoe UI"/>
                <a:cs typeface="Segoe UI"/>
              </a:rPr>
              <a:t>Glucose model</a:t>
            </a:r>
          </a:p>
        </p:txBody>
      </p:sp>
      <p:sp>
        <p:nvSpPr>
          <p:cNvPr id="15" name="">
            <a:extLst xmlns:a="http://schemas.openxmlformats.org/drawingml/2006/main">
              <a:ext uri="{FF2B5EF4-FFF2-40B4-BE49-F238E27FC236}">
                <a16:creationId xmlns:a16="http://schemas.microsoft.com/office/drawing/2014/main" id="{3E1D2B4A-FF33-402E-B3C6-7184D32DAE35}"/>
              </a:ext>
            </a:extLst>
          </p:cNvPr>
          <p:cNvSpPr>
            <a:spLocks xmlns:a="http://schemas.openxmlformats.org/drawingml/2006/main" noGrp="1"/>
          </p:cNvSpPr>
          <p:nvPr/>
        </p:nvSpPr>
        <p:spPr>
          <a:xfrm xmlns:a="http://schemas.openxmlformats.org/drawingml/2006/main">
            <a:off x="6877050" y="2638425"/>
            <a:ext cx="177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77D72"/>
                </a:solidFill>
                <a:latin typeface="Segoe UI"/>
                <a:ea typeface="Segoe UI"/>
                <a:cs typeface="Segoe UI"/>
              </a:defRPr>
            </a:defPPr>
          </a:lstStyle>
          <a:p xmlns:a="http://schemas.openxmlformats.org/drawingml/2006/main">
            <a:pPr>
              <a:buNone/>
              <a:defRPr sz="1575" b="0">
                <a:solidFill>
                  <a:srgbClr val="677D72"/>
                </a:solidFill>
                <a:latin typeface="Segoe UI"/>
                <a:ea typeface="Segoe UI"/>
                <a:cs typeface="Segoe UI"/>
              </a:defRPr>
            </a:pPr>
            <a:r>
              <a:rPr sz="1575" b="0">
                <a:solidFill>
                  <a:srgbClr val="677D72"/>
                </a:solidFill>
                <a:latin typeface="Segoe UI"/>
                <a:ea typeface="Segoe UI"/>
                <a:cs typeface="Segoe UI"/>
              </a:rPr>
              <a:t>Value at +120 min</a:t>
            </a:r>
          </a:p>
        </p:txBody>
      </p:sp>
      <p:sp>
        <p:nvSpPr>
          <p:cNvPr id="16" name="">
            <a:extLst xmlns:a="http://schemas.openxmlformats.org/drawingml/2006/main">
              <a:ext uri="{FF2B5EF4-FFF2-40B4-BE49-F238E27FC236}">
                <a16:creationId xmlns:a16="http://schemas.microsoft.com/office/drawing/2014/main" id="{DE534B1E-6F89-486E-A4F9-89882081C456}"/>
              </a:ext>
            </a:extLst>
          </p:cNvPr>
          <p:cNvSpPr>
            <a:spLocks xmlns:a="http://schemas.openxmlformats.org/drawingml/2006/main" noGrp="1"/>
          </p:cNvSpPr>
          <p:nvPr/>
        </p:nvSpPr>
        <p:spPr>
          <a:xfrm xmlns:a="http://schemas.openxmlformats.org/drawingml/2006/main">
            <a:off x="6715125" y="4095750"/>
            <a:ext cx="2095500" cy="1162050"/>
          </a:xfrm>
          <a:prstGeom xmlns:a="http://schemas.openxmlformats.org/drawingml/2006/main" prst="rect">
            <a:avLst/>
          </a:prstGeom>
          <a:solidFill xmlns:a="http://schemas.openxmlformats.org/drawingml/2006/main">
            <a:srgbClr val="E5F0E7"/>
          </a:solidFill>
          <a:ln xmlns:a="http://schemas.openxmlformats.org/drawingml/2006/main" w="9525">
            <a:solidFill>
              <a:srgbClr val="D4E1D6"/>
            </a:solidFill>
          </a:ln>
        </p:spPr>
      </p:sp>
      <p:sp>
        <p:nvSpPr>
          <p:cNvPr id="17" name="">
            <a:extLst xmlns:a="http://schemas.openxmlformats.org/drawingml/2006/main">
              <a:ext uri="{FF2B5EF4-FFF2-40B4-BE49-F238E27FC236}">
                <a16:creationId xmlns:a16="http://schemas.microsoft.com/office/drawing/2014/main" id="{96B1B392-3C1E-468B-B742-A34BCAF4B075}"/>
              </a:ext>
            </a:extLst>
          </p:cNvPr>
          <p:cNvSpPr>
            <a:spLocks xmlns:a="http://schemas.openxmlformats.org/drawingml/2006/main" noGrp="1"/>
          </p:cNvSpPr>
          <p:nvPr/>
        </p:nvSpPr>
        <p:spPr>
          <a:xfrm xmlns:a="http://schemas.openxmlformats.org/drawingml/2006/main">
            <a:off x="6877050" y="4229100"/>
            <a:ext cx="1771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F38"/>
                </a:solidFill>
                <a:latin typeface="Segoe UI"/>
                <a:ea typeface="Segoe UI"/>
                <a:cs typeface="Segoe UI"/>
              </a:defRPr>
            </a:defPPr>
          </a:lstStyle>
          <a:p xmlns:a="http://schemas.openxmlformats.org/drawingml/2006/main">
            <a:pPr>
              <a:buNone/>
              <a:defRPr sz="1875" b="1">
                <a:solidFill>
                  <a:srgbClr val="173F38"/>
                </a:solidFill>
                <a:latin typeface="Segoe UI"/>
                <a:ea typeface="Segoe UI"/>
                <a:cs typeface="Segoe UI"/>
              </a:defRPr>
            </a:pPr>
            <a:r>
              <a:rPr sz="1875" b="1">
                <a:solidFill>
                  <a:srgbClr val="173F38"/>
                </a:solidFill>
                <a:latin typeface="Segoe UI"/>
                <a:ea typeface="Segoe UI"/>
                <a:cs typeface="Segoe UI"/>
              </a:rPr>
              <a:t>Event model</a:t>
            </a:r>
          </a:p>
        </p:txBody>
      </p:sp>
      <p:sp>
        <p:nvSpPr>
          <p:cNvPr id="18" name="">
            <a:extLst xmlns:a="http://schemas.openxmlformats.org/drawingml/2006/main">
              <a:ext uri="{FF2B5EF4-FFF2-40B4-BE49-F238E27FC236}">
                <a16:creationId xmlns:a16="http://schemas.microsoft.com/office/drawing/2014/main" id="{3D12B5B7-A035-4AA6-A5BD-CF9228D76410}"/>
              </a:ext>
            </a:extLst>
          </p:cNvPr>
          <p:cNvSpPr>
            <a:spLocks xmlns:a="http://schemas.openxmlformats.org/drawingml/2006/main" noGrp="1"/>
          </p:cNvSpPr>
          <p:nvPr/>
        </p:nvSpPr>
        <p:spPr>
          <a:xfrm xmlns:a="http://schemas.openxmlformats.org/drawingml/2006/main">
            <a:off x="6877050" y="4638675"/>
            <a:ext cx="177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77D72"/>
                </a:solidFill>
                <a:latin typeface="Segoe UI"/>
                <a:ea typeface="Segoe UI"/>
                <a:cs typeface="Segoe UI"/>
              </a:defRPr>
            </a:defPPr>
          </a:lstStyle>
          <a:p xmlns:a="http://schemas.openxmlformats.org/drawingml/2006/main">
            <a:pPr>
              <a:buNone/>
              <a:defRPr sz="1575" b="0">
                <a:solidFill>
                  <a:srgbClr val="677D72"/>
                </a:solidFill>
                <a:latin typeface="Segoe UI"/>
                <a:ea typeface="Segoe UI"/>
                <a:cs typeface="Segoe UI"/>
              </a:defRPr>
            </a:pPr>
            <a:r>
              <a:rPr sz="1575" b="0">
                <a:solidFill>
                  <a:srgbClr val="677D72"/>
                </a:solidFill>
                <a:latin typeface="Segoe UI"/>
                <a:ea typeface="Segoe UI"/>
                <a:cs typeface="Segoe UI"/>
              </a:rPr>
              <a:t>Risk at +120 min</a:t>
            </a:r>
          </a:p>
        </p:txBody>
      </p:sp>
      <p:sp>
        <p:nvSpPr>
          <p:cNvPr id="19" name="">
            <a:extLst xmlns:a="http://schemas.openxmlformats.org/drawingml/2006/main">
              <a:ext uri="{FF2B5EF4-FFF2-40B4-BE49-F238E27FC236}">
                <a16:creationId xmlns:a16="http://schemas.microsoft.com/office/drawing/2014/main" id="{FB80756F-9215-4C7D-BD15-50336B45A560}"/>
              </a:ext>
            </a:extLst>
          </p:cNvPr>
          <p:cNvSpPr>
            <a:spLocks xmlns:a="http://schemas.openxmlformats.org/drawingml/2006/main" noGrp="1"/>
          </p:cNvSpPr>
          <p:nvPr/>
        </p:nvSpPr>
        <p:spPr>
          <a:xfrm xmlns:a="http://schemas.openxmlformats.org/drawingml/2006/main">
            <a:off x="9525000" y="3114675"/>
            <a:ext cx="2095500" cy="1162050"/>
          </a:xfrm>
          <a:prstGeom xmlns:a="http://schemas.openxmlformats.org/drawingml/2006/main" prst="rect">
            <a:avLst/>
          </a:prstGeom>
          <a:solidFill xmlns:a="http://schemas.openxmlformats.org/drawingml/2006/main">
            <a:srgbClr val="E5F0E7"/>
          </a:solidFill>
          <a:ln xmlns:a="http://schemas.openxmlformats.org/drawingml/2006/main" w="9525">
            <a:solidFill>
              <a:srgbClr val="D4E1D6"/>
            </a:solidFill>
          </a:ln>
        </p:spPr>
      </p:sp>
      <p:sp>
        <p:nvSpPr>
          <p:cNvPr id="20" name="">
            <a:extLst xmlns:a="http://schemas.openxmlformats.org/drawingml/2006/main">
              <a:ext uri="{FF2B5EF4-FFF2-40B4-BE49-F238E27FC236}">
                <a16:creationId xmlns:a16="http://schemas.microsoft.com/office/drawing/2014/main" id="{2452AD20-9927-4E44-AF5E-296F5D035E05}"/>
              </a:ext>
            </a:extLst>
          </p:cNvPr>
          <p:cNvSpPr>
            <a:spLocks xmlns:a="http://schemas.openxmlformats.org/drawingml/2006/main" noGrp="1"/>
          </p:cNvSpPr>
          <p:nvPr/>
        </p:nvSpPr>
        <p:spPr>
          <a:xfrm xmlns:a="http://schemas.openxmlformats.org/drawingml/2006/main">
            <a:off x="9686925" y="3248025"/>
            <a:ext cx="1771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F38"/>
                </a:solidFill>
                <a:latin typeface="Segoe UI"/>
                <a:ea typeface="Segoe UI"/>
                <a:cs typeface="Segoe UI"/>
              </a:defRPr>
            </a:defPPr>
          </a:lstStyle>
          <a:p xmlns:a="http://schemas.openxmlformats.org/drawingml/2006/main">
            <a:pPr>
              <a:buNone/>
              <a:defRPr sz="1875" b="1">
                <a:solidFill>
                  <a:srgbClr val="173F38"/>
                </a:solidFill>
                <a:latin typeface="Segoe UI"/>
                <a:ea typeface="Segoe UI"/>
                <a:cs typeface="Segoe UI"/>
              </a:defRPr>
            </a:pPr>
            <a:r>
              <a:rPr sz="1875" b="1">
                <a:solidFill>
                  <a:srgbClr val="173F38"/>
                </a:solidFill>
                <a:latin typeface="Segoe UI"/>
                <a:ea typeface="Segoe UI"/>
                <a:cs typeface="Segoe UI"/>
              </a:rPr>
              <a:t>Doctor UI</a:t>
            </a:r>
          </a:p>
        </p:txBody>
      </p:sp>
      <p:sp>
        <p:nvSpPr>
          <p:cNvPr id="21" name="">
            <a:extLst xmlns:a="http://schemas.openxmlformats.org/drawingml/2006/main">
              <a:ext uri="{FF2B5EF4-FFF2-40B4-BE49-F238E27FC236}">
                <a16:creationId xmlns:a16="http://schemas.microsoft.com/office/drawing/2014/main" id="{FFB96495-F8BE-466B-B19E-69577FAF87F5}"/>
              </a:ext>
            </a:extLst>
          </p:cNvPr>
          <p:cNvSpPr>
            <a:spLocks xmlns:a="http://schemas.openxmlformats.org/drawingml/2006/main" noGrp="1"/>
          </p:cNvSpPr>
          <p:nvPr/>
        </p:nvSpPr>
        <p:spPr>
          <a:xfrm xmlns:a="http://schemas.openxmlformats.org/drawingml/2006/main">
            <a:off x="9686925" y="3657600"/>
            <a:ext cx="177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77D72"/>
                </a:solidFill>
                <a:latin typeface="Segoe UI"/>
                <a:ea typeface="Segoe UI"/>
                <a:cs typeface="Segoe UI"/>
              </a:defRPr>
            </a:defPPr>
          </a:lstStyle>
          <a:p xmlns:a="http://schemas.openxmlformats.org/drawingml/2006/main">
            <a:pPr>
              <a:buNone/>
              <a:defRPr sz="1575" b="0">
                <a:solidFill>
                  <a:srgbClr val="677D72"/>
                </a:solidFill>
                <a:latin typeface="Segoe UI"/>
                <a:ea typeface="Segoe UI"/>
                <a:cs typeface="Segoe UI"/>
              </a:defRPr>
            </a:pPr>
            <a:r>
              <a:rPr sz="1575" b="0">
                <a:solidFill>
                  <a:srgbClr val="677D72"/>
                </a:solidFill>
                <a:latin typeface="Segoe UI"/>
                <a:ea typeface="Segoe UI"/>
                <a:cs typeface="Segoe UI"/>
              </a:rPr>
              <a:t>Forecast and review</a:t>
            </a:r>
          </a:p>
        </p:txBody>
      </p:sp>
      <p:sp>
        <p:nvSpPr>
          <p:cNvPr id="28" name="">
            <a:extLst xmlns:a="http://schemas.openxmlformats.org/drawingml/2006/main">
              <a:ext uri="{FF2B5EF4-FFF2-40B4-BE49-F238E27FC236}">
                <a16:creationId xmlns:a16="http://schemas.microsoft.com/office/drawing/2014/main" id="{B2DD77B8-A3AB-4A01-BFF2-0280FFAA8F09}"/>
              </a:ext>
            </a:extLst>
          </p:cNvPr>
          <p:cNvSpPr>
            <a:spLocks xmlns:a="http://schemas.openxmlformats.org/drawingml/2006/main" noGrp="1"/>
          </p:cNvSpPr>
          <p:nvPr/>
        </p:nvSpPr>
        <p:spPr>
          <a:xfrm xmlns:a="http://schemas.openxmlformats.org/drawingml/2006/main">
            <a:off x="666750" y="5762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Future readings stay outside inference and appear only after outcome reveal.</a:t>
            </a:r>
          </a:p>
        </p:txBody>
      </p:sp>
      <p:sp>
        <p:nvSpPr>
          <p:cNvPr id="30" name="">
            <a:extLst xmlns:a="http://schemas.openxmlformats.org/drawingml/2006/main">
              <a:ext uri="{FF2B5EF4-FFF2-40B4-BE49-F238E27FC236}">
                <a16:creationId xmlns:a16="http://schemas.microsoft.com/office/drawing/2014/main" id="{DA776EF2-5D71-4904-B700-3B89E29A4835}"/>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two inputs, patient state, fitted models and doctor UI</a:t>
            </a:r>
          </a:p>
        </p:txBody>
      </p:sp>
    </p:spTree>
    <p:extLst>
      <p:ext uri="{BB962C8B-B14F-4D97-AF65-F5344CB8AC3E}">
        <p14:creationId xmlns:p14="http://schemas.microsoft.com/office/powerpoint/2010/main" val="1728406786"/>
      </p:ext>
    </p:extLst>
  </p:cSld>
</p:sld>
</file>

<file path=ppt/slides/slide7.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73ECCA-96F7-4CEC-853E-523B792E2AE9}"/>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The virtual patient state</a:t>
            </a:r>
          </a:p>
        </p:txBody>
      </p:sp>
      <p:sp>
        <p:nvSpPr>
          <p:cNvPr id="2" name="">
            <a:extLst xmlns:a="http://schemas.openxmlformats.org/drawingml/2006/main">
              <a:ext uri="{FF2B5EF4-FFF2-40B4-BE49-F238E27FC236}">
                <a16:creationId xmlns:a16="http://schemas.microsoft.com/office/drawing/2014/main" id="{C8018544-5A9B-4C94-86BB-2768B1D9380C}"/>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20A5CE58-CF0C-4C03-A2C0-B4D6DAF37AA5}"/>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06:20 - 07:30   7/18</a:t>
            </a:r>
          </a:p>
        </p:txBody>
      </p:sp>
      <p:sp>
        <p:nvSpPr>
          <p:cNvPr id="4" name="">
            <a:extLst xmlns:a="http://schemas.openxmlformats.org/drawingml/2006/main">
              <a:ext uri="{FF2B5EF4-FFF2-40B4-BE49-F238E27FC236}">
                <a16:creationId xmlns:a16="http://schemas.microsoft.com/office/drawing/2014/main" id="{95AAF633-3181-42A0-8189-1C63AFFC52EB}"/>
              </a:ext>
            </a:extLst>
          </p:cNvPr>
          <p:cNvSpPr>
            <a:spLocks xmlns:a="http://schemas.openxmlformats.org/drawingml/2006/main" noGrp="1"/>
          </p:cNvSpPr>
          <p:nvPr/>
        </p:nvSpPr>
        <p:spPr>
          <a:xfrm xmlns:a="http://schemas.openxmlformats.org/drawingml/2006/main">
            <a:off x="666750" y="207645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18 numerical features</a:t>
            </a:r>
          </a:p>
        </p:txBody>
      </p:sp>
      <p:sp>
        <p:nvSpPr>
          <p:cNvPr id="5" name="">
            <a:extLst xmlns:a="http://schemas.openxmlformats.org/drawingml/2006/main">
              <a:ext uri="{FF2B5EF4-FFF2-40B4-BE49-F238E27FC236}">
                <a16:creationId xmlns:a16="http://schemas.microsoft.com/office/drawing/2014/main" id="{18A29194-A25E-47B0-AD15-EC0312FAC0B5}"/>
              </a:ext>
            </a:extLst>
          </p:cNvPr>
          <p:cNvSpPr>
            <a:spLocks xmlns:a="http://schemas.openxmlformats.org/drawingml/2006/main" noGrp="1"/>
          </p:cNvSpPr>
          <p:nvPr/>
        </p:nvSpPr>
        <p:spPr>
          <a:xfrm xmlns:a="http://schemas.openxmlformats.org/drawingml/2006/main">
            <a:off x="666750" y="25431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Historical context joins glucose lags, summaries and current signals.</a:t>
            </a:r>
          </a:p>
        </p:txBody>
      </p:sp>
      <p:sp>
        <p:nvSpPr>
          <p:cNvPr id="6" name="">
            <a:extLst xmlns:a="http://schemas.openxmlformats.org/drawingml/2006/main">
              <a:ext uri="{FF2B5EF4-FFF2-40B4-BE49-F238E27FC236}">
                <a16:creationId xmlns:a16="http://schemas.microsoft.com/office/drawing/2014/main" id="{F2654729-B7FC-414A-9B98-B95E1B6A8E41}"/>
              </a:ext>
            </a:extLst>
          </p:cNvPr>
          <p:cNvSpPr>
            <a:spLocks xmlns:a="http://schemas.openxmlformats.org/drawingml/2006/main" noGrp="1"/>
          </p:cNvSpPr>
          <p:nvPr/>
        </p:nvSpPr>
        <p:spPr>
          <a:xfrm xmlns:a="http://schemas.openxmlformats.org/drawingml/2006/main">
            <a:off x="666750" y="34385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Past observations only</a:t>
            </a:r>
          </a:p>
        </p:txBody>
      </p:sp>
      <p:sp>
        <p:nvSpPr>
          <p:cNvPr id="7" name="">
            <a:extLst xmlns:a="http://schemas.openxmlformats.org/drawingml/2006/main">
              <a:ext uri="{FF2B5EF4-FFF2-40B4-BE49-F238E27FC236}">
                <a16:creationId xmlns:a16="http://schemas.microsoft.com/office/drawing/2014/main" id="{C11A209A-A2A8-4653-8815-56CBCE706CEA}"/>
              </a:ext>
            </a:extLst>
          </p:cNvPr>
          <p:cNvSpPr>
            <a:spLocks xmlns:a="http://schemas.openxmlformats.org/drawingml/2006/main" noGrp="1"/>
          </p:cNvSpPr>
          <p:nvPr/>
        </p:nvSpPr>
        <p:spPr>
          <a:xfrm xmlns:a="http://schemas.openxmlformats.org/drawingml/2006/main">
            <a:off x="666750" y="3905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Glucose history covers the preceding hour, including a 30-minute slope.</a:t>
            </a:r>
          </a:p>
        </p:txBody>
      </p:sp>
      <p:sp>
        <p:nvSpPr>
          <p:cNvPr id="8" name="">
            <a:extLst xmlns:a="http://schemas.openxmlformats.org/drawingml/2006/main">
              <a:ext uri="{FF2B5EF4-FFF2-40B4-BE49-F238E27FC236}">
                <a16:creationId xmlns:a16="http://schemas.microsoft.com/office/drawing/2014/main" id="{3802C800-26BD-4C99-BB04-EA3896BD377D}"/>
              </a:ext>
            </a:extLst>
          </p:cNvPr>
          <p:cNvSpPr>
            <a:spLocks xmlns:a="http://schemas.openxmlformats.org/drawingml/2006/main" noGrp="1"/>
          </p:cNvSpPr>
          <p:nvPr/>
        </p:nvSpPr>
        <p:spPr>
          <a:xfrm xmlns:a="http://schemas.openxmlformats.org/drawingml/2006/main">
            <a:off x="666750" y="48006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Continuous updates</a:t>
            </a:r>
          </a:p>
        </p:txBody>
      </p:sp>
      <p:sp>
        <p:nvSpPr>
          <p:cNvPr id="9" name="">
            <a:extLst xmlns:a="http://schemas.openxmlformats.org/drawingml/2006/main">
              <a:ext uri="{FF2B5EF4-FFF2-40B4-BE49-F238E27FC236}">
                <a16:creationId xmlns:a16="http://schemas.microsoft.com/office/drawing/2014/main" id="{143CC5F5-42E5-48A9-87A4-9100A1EB7798}"/>
              </a:ext>
            </a:extLst>
          </p:cNvPr>
          <p:cNvSpPr>
            <a:spLocks xmlns:a="http://schemas.openxmlformats.org/drawingml/2006/main" noGrp="1"/>
          </p:cNvSpPr>
          <p:nvPr/>
        </p:nvSpPr>
        <p:spPr>
          <a:xfrm xmlns:a="http://schemas.openxmlformats.org/drawingml/2006/main">
            <a:off x="666750" y="52673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Every simulated five-minute event refreshes the patient state.</a:t>
            </a:r>
          </a:p>
        </p:txBody>
      </p:sp>
      <p:sp>
        <p:nvSpPr>
          <p:cNvPr id="11" name="">
            <a:extLst xmlns:a="http://schemas.openxmlformats.org/drawingml/2006/main">
              <a:ext uri="{FF2B5EF4-FFF2-40B4-BE49-F238E27FC236}">
                <a16:creationId xmlns:a16="http://schemas.microsoft.com/office/drawing/2014/main" id="{732BCB79-2083-416D-B6F9-7CCEAF69B63C}"/>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Patient overview, Next 5 minutes and updated forecast</a:t>
            </a:r>
          </a:p>
        </p:txBody>
      </p:sp>
    </p:spTree>
    <p:extLst>
      <p:ext uri="{BB962C8B-B14F-4D97-AF65-F5344CB8AC3E}">
        <p14:creationId xmlns:p14="http://schemas.microsoft.com/office/powerpoint/2010/main" val="593811893"/>
      </p:ext>
    </p:extLst>
  </p:cSld>
</p:sld>
</file>

<file path=ppt/slides/slide8.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07EB6B-F83A-4C5A-9930-433F58926AD7}"/>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Technical stack and model execution</a:t>
            </a:r>
          </a:p>
        </p:txBody>
      </p:sp>
      <p:sp>
        <p:nvSpPr>
          <p:cNvPr id="2" name="">
            <a:extLst xmlns:a="http://schemas.openxmlformats.org/drawingml/2006/main">
              <a:ext uri="{FF2B5EF4-FFF2-40B4-BE49-F238E27FC236}">
                <a16:creationId xmlns:a16="http://schemas.microsoft.com/office/drawing/2014/main" id="{4856AA72-37D2-4F37-8F7E-BA7F34637255}"/>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7FD15903-3243-4900-80B3-D8EFEA3BACF7}"/>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07:30 - 08:20   8/18</a:t>
            </a:r>
          </a:p>
        </p:txBody>
      </p:sp>
      <p:sp>
        <p:nvSpPr>
          <p:cNvPr id="4" name="">
            <a:extLst xmlns:a="http://schemas.openxmlformats.org/drawingml/2006/main">
              <a:ext uri="{FF2B5EF4-FFF2-40B4-BE49-F238E27FC236}">
                <a16:creationId xmlns:a16="http://schemas.microsoft.com/office/drawing/2014/main" id="{392E4460-8B52-4B0A-8387-2BF807442EAD}"/>
              </a:ext>
            </a:extLst>
          </p:cNvPr>
          <p:cNvSpPr>
            <a:spLocks xmlns:a="http://schemas.openxmlformats.org/drawingml/2006/main" noGrp="1"/>
          </p:cNvSpPr>
          <p:nvPr/>
        </p:nvSpPr>
        <p:spPr>
          <a:xfrm xmlns:a="http://schemas.openxmlformats.org/drawingml/2006/main">
            <a:off x="666750" y="207645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Training</a:t>
            </a:r>
          </a:p>
        </p:txBody>
      </p:sp>
      <p:sp>
        <p:nvSpPr>
          <p:cNvPr id="5" name="">
            <a:extLst xmlns:a="http://schemas.openxmlformats.org/drawingml/2006/main">
              <a:ext uri="{FF2B5EF4-FFF2-40B4-BE49-F238E27FC236}">
                <a16:creationId xmlns:a16="http://schemas.microsoft.com/office/drawing/2014/main" id="{46E417C9-902E-4C45-AA55-0533DC60FDAB}"/>
              </a:ext>
            </a:extLst>
          </p:cNvPr>
          <p:cNvSpPr>
            <a:spLocks xmlns:a="http://schemas.openxmlformats.org/drawingml/2006/main" noGrp="1"/>
          </p:cNvSpPr>
          <p:nvPr/>
        </p:nvSpPr>
        <p:spPr>
          <a:xfrm xmlns:a="http://schemas.openxmlformats.org/drawingml/2006/main">
            <a:off x="666750" y="25431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Python 3.13, NumPy 2.3.2 and scikit-learn 1.9.0</a:t>
            </a:r>
          </a:p>
        </p:txBody>
      </p:sp>
      <p:sp>
        <p:nvSpPr>
          <p:cNvPr id="6" name="">
            <a:extLst xmlns:a="http://schemas.openxmlformats.org/drawingml/2006/main">
              <a:ext uri="{FF2B5EF4-FFF2-40B4-BE49-F238E27FC236}">
                <a16:creationId xmlns:a16="http://schemas.microsoft.com/office/drawing/2014/main" id="{6C011BDC-8933-4A79-A7B5-B4369C09CA89}"/>
              </a:ext>
            </a:extLst>
          </p:cNvPr>
          <p:cNvSpPr>
            <a:spLocks xmlns:a="http://schemas.openxmlformats.org/drawingml/2006/main" noGrp="1"/>
          </p:cNvSpPr>
          <p:nvPr/>
        </p:nvSpPr>
        <p:spPr>
          <a:xfrm xmlns:a="http://schemas.openxmlformats.org/drawingml/2006/main">
            <a:off x="666750" y="34385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Fitted artifacts</a:t>
            </a:r>
          </a:p>
        </p:txBody>
      </p:sp>
      <p:sp>
        <p:nvSpPr>
          <p:cNvPr id="7" name="">
            <a:extLst xmlns:a="http://schemas.openxmlformats.org/drawingml/2006/main">
              <a:ext uri="{FF2B5EF4-FFF2-40B4-BE49-F238E27FC236}">
                <a16:creationId xmlns:a16="http://schemas.microsoft.com/office/drawing/2014/main" id="{D046668E-773F-408E-BFB7-991F557380F7}"/>
              </a:ext>
            </a:extLst>
          </p:cNvPr>
          <p:cNvSpPr>
            <a:spLocks xmlns:a="http://schemas.openxmlformats.org/drawingml/2006/main" noGrp="1"/>
          </p:cNvSpPr>
          <p:nvPr/>
        </p:nvSpPr>
        <p:spPr>
          <a:xfrm xmlns:a="http://schemas.openxmlformats.org/drawingml/2006/main">
            <a:off x="666750" y="3905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Exported decision trees, coefficients and calibration parameters in JSON</a:t>
            </a:r>
          </a:p>
        </p:txBody>
      </p:sp>
      <p:sp>
        <p:nvSpPr>
          <p:cNvPr id="8" name="">
            <a:extLst xmlns:a="http://schemas.openxmlformats.org/drawingml/2006/main">
              <a:ext uri="{FF2B5EF4-FFF2-40B4-BE49-F238E27FC236}">
                <a16:creationId xmlns:a16="http://schemas.microsoft.com/office/drawing/2014/main" id="{8F1DA060-B303-4282-AE7D-44FAD0EE266C}"/>
              </a:ext>
            </a:extLst>
          </p:cNvPr>
          <p:cNvSpPr>
            <a:spLocks xmlns:a="http://schemas.openxmlformats.org/drawingml/2006/main" noGrp="1"/>
          </p:cNvSpPr>
          <p:nvPr/>
        </p:nvSpPr>
        <p:spPr>
          <a:xfrm xmlns:a="http://schemas.openxmlformats.org/drawingml/2006/main">
            <a:off x="666750" y="48006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Clinician interface</a:t>
            </a:r>
          </a:p>
        </p:txBody>
      </p:sp>
      <p:sp>
        <p:nvSpPr>
          <p:cNvPr id="9" name="">
            <a:extLst xmlns:a="http://schemas.openxmlformats.org/drawingml/2006/main">
              <a:ext uri="{FF2B5EF4-FFF2-40B4-BE49-F238E27FC236}">
                <a16:creationId xmlns:a16="http://schemas.microsoft.com/office/drawing/2014/main" id="{5A526096-739E-40EE-B0F7-89A5A2E4B4F9}"/>
              </a:ext>
            </a:extLst>
          </p:cNvPr>
          <p:cNvSpPr>
            <a:spLocks xmlns:a="http://schemas.openxmlformats.org/drawingml/2006/main" noGrp="1"/>
          </p:cNvSpPr>
          <p:nvPr/>
        </p:nvSpPr>
        <p:spPr>
          <a:xfrm xmlns:a="http://schemas.openxmlformats.org/drawingml/2006/main">
            <a:off x="666750" y="52673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HTML, CSS, SVG and JavaScript inference in the browser</a:t>
            </a:r>
          </a:p>
        </p:txBody>
      </p:sp>
      <p:sp>
        <p:nvSpPr>
          <p:cNvPr id="11" name="">
            <a:extLst xmlns:a="http://schemas.openxmlformats.org/drawingml/2006/main">
              <a:ext uri="{FF2B5EF4-FFF2-40B4-BE49-F238E27FC236}">
                <a16:creationId xmlns:a16="http://schemas.microsoft.com/office/drawing/2014/main" id="{38D5E566-6909-455E-88E5-1831DE93BC10}"/>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evidence: trained-model.json and browser inference</a:t>
            </a:r>
          </a:p>
        </p:txBody>
      </p:sp>
    </p:spTree>
    <p:extLst>
      <p:ext uri="{BB962C8B-B14F-4D97-AF65-F5344CB8AC3E}">
        <p14:creationId xmlns:p14="http://schemas.microsoft.com/office/powerpoint/2010/main" val="1486190649"/>
      </p:ext>
    </p:extLst>
  </p:cSld>
</p:sld>
</file>

<file path=ppt/slides/slide9.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3A2011-8F0D-483C-BB1E-47024D3CBB5F}"/>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Benchmarking methods</a:t>
            </a:r>
          </a:p>
        </p:txBody>
      </p:sp>
      <p:sp>
        <p:nvSpPr>
          <p:cNvPr id="2" name="">
            <a:extLst xmlns:a="http://schemas.openxmlformats.org/drawingml/2006/main">
              <a:ext uri="{FF2B5EF4-FFF2-40B4-BE49-F238E27FC236}">
                <a16:creationId xmlns:a16="http://schemas.microsoft.com/office/drawing/2014/main" id="{F4FEF40B-CE0D-4FBD-894D-D312544065E3}"/>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4B1CFBA7-F32B-415A-BFC3-D9287C00E6AA}"/>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08:20 - 09:30   9/18</a:t>
            </a:r>
          </a:p>
        </p:txBody>
      </p:sp>
      <p:sp>
        <p:nvSpPr>
          <p:cNvPr id="4" name="">
            <a:extLst xmlns:a="http://schemas.openxmlformats.org/drawingml/2006/main">
              <a:ext uri="{FF2B5EF4-FFF2-40B4-BE49-F238E27FC236}">
                <a16:creationId xmlns:a16="http://schemas.microsoft.com/office/drawing/2014/main" id="{1BAB4794-3FA3-4EA3-A0BC-C5A21DCD2329}"/>
              </a:ext>
            </a:extLst>
          </p:cNvPr>
          <p:cNvSpPr>
            <a:spLocks xmlns:a="http://schemas.openxmlformats.org/drawingml/2006/main" noGrp="1"/>
          </p:cNvSpPr>
          <p:nvPr/>
        </p:nvSpPr>
        <p:spPr>
          <a:xfrm xmlns:a="http://schemas.openxmlformats.org/drawingml/2006/main">
            <a:off x="666750" y="2085975"/>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67B71"/>
                </a:solidFill>
                <a:latin typeface="Segoe UI"/>
                <a:ea typeface="Segoe UI"/>
                <a:cs typeface="Segoe UI"/>
              </a:defRPr>
            </a:defPPr>
          </a:lstStyle>
          <a:p xmlns:a="http://schemas.openxmlformats.org/drawingml/2006/main">
            <a:pPr>
              <a:buNone/>
              <a:defRPr sz="2325" b="1">
                <a:solidFill>
                  <a:srgbClr val="267B71"/>
                </a:solidFill>
                <a:latin typeface="Segoe UI"/>
                <a:ea typeface="Segoe UI"/>
                <a:cs typeface="Segoe UI"/>
              </a:defRPr>
            </a:pPr>
            <a:r>
              <a:rPr sz="2325" b="1">
                <a:solidFill>
                  <a:srgbClr val="267B71"/>
                </a:solidFill>
                <a:latin typeface="Segoe UI"/>
                <a:ea typeface="Segoe UI"/>
                <a:cs typeface="Segoe UI"/>
              </a:rPr>
              <a:t>Glucose value: 5 methods</a:t>
            </a:r>
          </a:p>
        </p:txBody>
      </p:sp>
      <p:sp>
        <p:nvSpPr>
          <p:cNvPr id="5" name="">
            <a:extLst xmlns:a="http://schemas.openxmlformats.org/drawingml/2006/main">
              <a:ext uri="{FF2B5EF4-FFF2-40B4-BE49-F238E27FC236}">
                <a16:creationId xmlns:a16="http://schemas.microsoft.com/office/drawing/2014/main" id="{FF6C03BF-9FC1-48E2-813F-12E3BBB8F5EC}"/>
              </a:ext>
            </a:extLst>
          </p:cNvPr>
          <p:cNvSpPr>
            <a:spLocks xmlns:a="http://schemas.openxmlformats.org/drawingml/2006/main" noGrp="1"/>
          </p:cNvSpPr>
          <p:nvPr/>
        </p:nvSpPr>
        <p:spPr>
          <a:xfrm xmlns:a="http://schemas.openxmlformats.org/drawingml/2006/main">
            <a:off x="666750" y="2781300"/>
            <a:ext cx="4953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F38"/>
                </a:solidFill>
                <a:latin typeface="Segoe UI"/>
                <a:ea typeface="Segoe UI"/>
                <a:cs typeface="Segoe UI"/>
              </a:defRPr>
            </a:defPPr>
          </a:lstStyle>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Persistence</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Linear trend</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Ridge regression</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Random forest</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Gradient boosting</a:t>
            </a:r>
          </a:p>
        </p:txBody>
      </p:sp>
      <p:sp>
        <p:nvSpPr>
          <p:cNvPr id="6" name="">
            <a:extLst xmlns:a="http://schemas.openxmlformats.org/drawingml/2006/main">
              <a:ext uri="{FF2B5EF4-FFF2-40B4-BE49-F238E27FC236}">
                <a16:creationId xmlns:a16="http://schemas.microsoft.com/office/drawing/2014/main" id="{01FE228A-6E0F-4AE2-9125-351FA77A6860}"/>
              </a:ext>
            </a:extLst>
          </p:cNvPr>
          <p:cNvSpPr>
            <a:spLocks xmlns:a="http://schemas.openxmlformats.org/drawingml/2006/main" noGrp="1"/>
          </p:cNvSpPr>
          <p:nvPr/>
        </p:nvSpPr>
        <p:spPr>
          <a:xfrm xmlns:a="http://schemas.openxmlformats.org/drawingml/2006/main">
            <a:off x="6572250" y="20859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67B71"/>
                </a:solidFill>
                <a:latin typeface="Segoe UI"/>
                <a:ea typeface="Segoe UI"/>
                <a:cs typeface="Segoe UI"/>
              </a:defRPr>
            </a:defPPr>
          </a:lstStyle>
          <a:p xmlns:a="http://schemas.openxmlformats.org/drawingml/2006/main">
            <a:pPr>
              <a:buNone/>
              <a:defRPr sz="2325" b="1">
                <a:solidFill>
                  <a:srgbClr val="267B71"/>
                </a:solidFill>
                <a:latin typeface="Segoe UI"/>
                <a:ea typeface="Segoe UI"/>
                <a:cs typeface="Segoe UI"/>
              </a:defRPr>
            </a:pPr>
            <a:r>
              <a:rPr sz="2325" b="1">
                <a:solidFill>
                  <a:srgbClr val="267B71"/>
                </a:solidFill>
                <a:latin typeface="Segoe UI"/>
                <a:ea typeface="Segoe UI"/>
                <a:cs typeface="Segoe UI"/>
              </a:rPr>
              <a:t>Event warning: 2 methods</a:t>
            </a:r>
          </a:p>
        </p:txBody>
      </p:sp>
      <p:sp>
        <p:nvSpPr>
          <p:cNvPr id="7" name="">
            <a:extLst xmlns:a="http://schemas.openxmlformats.org/drawingml/2006/main">
              <a:ext uri="{FF2B5EF4-FFF2-40B4-BE49-F238E27FC236}">
                <a16:creationId xmlns:a16="http://schemas.microsoft.com/office/drawing/2014/main" id="{6ECD11DB-575E-4377-AA0C-3683E3A98D84}"/>
              </a:ext>
            </a:extLst>
          </p:cNvPr>
          <p:cNvSpPr>
            <a:spLocks xmlns:a="http://schemas.openxmlformats.org/drawingml/2006/main" noGrp="1"/>
          </p:cNvSpPr>
          <p:nvPr/>
        </p:nvSpPr>
        <p:spPr>
          <a:xfrm xmlns:a="http://schemas.openxmlformats.org/drawingml/2006/main">
            <a:off x="6572250" y="278130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F38"/>
                </a:solidFill>
                <a:latin typeface="Segoe UI"/>
                <a:ea typeface="Segoe UI"/>
                <a:cs typeface="Segoe UI"/>
              </a:defRPr>
            </a:defPPr>
          </a:lstStyle>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Logistic regression</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Random forest classifier</a:t>
            </a:r>
          </a:p>
        </p:txBody>
      </p:sp>
      <p:sp>
        <p:nvSpPr>
          <p:cNvPr id="8" name="">
            <a:extLst xmlns:a="http://schemas.openxmlformats.org/drawingml/2006/main">
              <a:ext uri="{FF2B5EF4-FFF2-40B4-BE49-F238E27FC236}">
                <a16:creationId xmlns:a16="http://schemas.microsoft.com/office/drawing/2014/main" id="{10CAA644-F66A-4325-9766-E3BE569452F0}"/>
              </a:ext>
            </a:extLst>
          </p:cNvPr>
          <p:cNvSpPr>
            <a:spLocks xmlns:a="http://schemas.openxmlformats.org/drawingml/2006/main" noGrp="1"/>
          </p:cNvSpPr>
          <p:nvPr/>
        </p:nvSpPr>
        <p:spPr>
          <a:xfrm xmlns:a="http://schemas.openxmlformats.org/drawingml/2006/main">
            <a:off x="6572250" y="4333875"/>
            <a:ext cx="4762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Validation selects the models.</a:t>
            </a:r>
          </a:p>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F2 favours catching spikes when choosing the alert cutoff.</a:t>
            </a:r>
          </a:p>
        </p:txBody>
      </p:sp>
      <p:sp>
        <p:nvSpPr>
          <p:cNvPr id="10" name="">
            <a:extLst xmlns:a="http://schemas.openxmlformats.org/drawingml/2006/main">
              <a:ext uri="{FF2B5EF4-FFF2-40B4-BE49-F238E27FC236}">
                <a16:creationId xmlns:a16="http://schemas.microsoft.com/office/drawing/2014/main" id="{A0623EF7-A509-4EFE-BC56-7088F7C41441}"/>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Model &amp; benchmarks, forecasting and classifier comparisons</a:t>
            </a:r>
          </a:p>
        </p:txBody>
      </p:sp>
    </p:spTree>
    <p:extLst>
      <p:ext uri="{BB962C8B-B14F-4D97-AF65-F5344CB8AC3E}">
        <p14:creationId xmlns:p14="http://schemas.microsoft.com/office/powerpoint/2010/main" val="1687573310"/>
      </p:ext>
    </p:extLst>
  </p:cSld>
</p:sld>
</file>

<file path=ppt/slides/slide10.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432ABD-A319-4CB3-8C1F-668941D7A775}"/>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Evaluation without patient overlap</a:t>
            </a:r>
          </a:p>
        </p:txBody>
      </p:sp>
      <p:sp>
        <p:nvSpPr>
          <p:cNvPr id="2" name="">
            <a:extLst xmlns:a="http://schemas.openxmlformats.org/drawingml/2006/main">
              <a:ext uri="{FF2B5EF4-FFF2-40B4-BE49-F238E27FC236}">
                <a16:creationId xmlns:a16="http://schemas.microsoft.com/office/drawing/2014/main" id="{37C58BD2-C3D2-4689-9991-DF3576684E94}"/>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86D474C4-52F1-4D4D-9889-D5729B6D8B2C}"/>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09:30 - 10:40   10/18</a:t>
            </a:r>
          </a:p>
        </p:txBody>
      </p:sp>
      <p:graphicFrame>
        <p:nvGraphicFramePr>
          <p:cNvPr id="4" name="">
            <a:extLst xmlns:a="http://schemas.openxmlformats.org/drawingml/2006/main">
              <a:ext uri="{FF2B5EF4-FFF2-40B4-BE49-F238E27FC236}">
                <a16:creationId xmlns:a16="http://schemas.microsoft.com/office/drawing/2014/main" id="{FB3037C5-1264-40C2-BBE9-C433663D7F81}"/>
              </a:ext>
            </a:extLst>
          </p:cNvPr>
          <p:cNvGraphicFramePr/>
          <p:nvPr/>
        </p:nvGraphicFramePr>
        <p:xfrm>
          <a:off xmlns:a="http://schemas.openxmlformats.org/drawingml/2006/main" x="666750" y="2047875"/>
          <a:ext xmlns:a="http://schemas.openxmlformats.org/drawingml/2006/main" cx="10858500" cy="3333750"/>
        </p:xfrm>
        <a:graphic xmlns:a="http://schemas.openxmlformats.org/drawingml/2006/main">
          <a:graphicData uri="http://schemas.openxmlformats.org/drawingml/2006/table">
            <a:tbl>
              <a:tblPr/>
              <a:tblGrid>
                <a:gridCol w="3238500"/>
                <a:gridCol w="1524000"/>
                <a:gridCol w="6096000"/>
              </a:tblGrid>
              <a:tr h="666750">
                <a:tc>
                  <a:txBody>
                    <a:bodyPr/>
                    <a:lstStyle/>
                    <a:p>
                      <a:r>
                        <a:rPr sz="1875" b="1">
                          <a:solidFill>
                            <a:srgbClr val="FFFFFF"/>
                          </a:solidFill>
                          <a:latin typeface="Segoe UI"/>
                          <a:ea typeface="Segoe UI"/>
                          <a:cs typeface="Segoe UI"/>
                        </a:rPr>
                        <a:t>Cohort</a:t>
                      </a:r>
                    </a:p>
                  </a:txBody>
                  <a:tcPr marL="91440" marR="91440" marT="45720" marB="45720">
                    <a:lnL w="6668">
                      <a:solidFill>
                        <a:srgbClr val="D4E1D6"/>
                      </a:solidFill>
                      <a:prstDash val="solid"/>
                    </a:lnL>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c>
                  <a:txBody>
                    <a:bodyPr/>
                    <a:lstStyle/>
                    <a:p>
                      <a:r>
                        <a:rPr sz="1875" b="1">
                          <a:solidFill>
                            <a:srgbClr val="FFFFFF"/>
                          </a:solidFill>
                          <a:latin typeface="Segoe UI"/>
                          <a:ea typeface="Segoe UI"/>
                          <a:cs typeface="Segoe UI"/>
                        </a:rPr>
                        <a:t>Patients</a:t>
                      </a:r>
                    </a:p>
                  </a:txBody>
                  <a:tcPr marL="91440" marR="91440" marT="45720" marB="45720">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c>
                  <a:txBody>
                    <a:bodyPr/>
                    <a:lstStyle/>
                    <a:p>
                      <a:r>
                        <a:rPr sz="1875" b="1">
                          <a:solidFill>
                            <a:srgbClr val="FFFFFF"/>
                          </a:solidFill>
                          <a:latin typeface="Segoe UI"/>
                          <a:ea typeface="Segoe UI"/>
                          <a:cs typeface="Segoe UI"/>
                        </a:rPr>
                        <a:t>Purpose</a:t>
                      </a:r>
                    </a:p>
                  </a:txBody>
                  <a:tcPr marL="91440" marR="91440" marT="45720" marB="45720">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r>
              <a:tr h="666750">
                <a:tc>
                  <a:txBody>
                    <a:bodyPr/>
                    <a:lstStyle/>
                    <a:p>
                      <a:r>
                        <a:rPr sz="1875" b="0">
                          <a:solidFill>
                            <a:srgbClr val="173F38"/>
                          </a:solidFill>
                          <a:latin typeface="Segoe UI"/>
                          <a:ea typeface="Segoe UI"/>
                          <a:cs typeface="Segoe UI"/>
                        </a:rPr>
                        <a:t>Training</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54</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Fit candidate models</a:t>
                      </a:r>
                    </a:p>
                  </a:txBody>
                  <a:tcPr marL="91440" marR="91440" marT="45720" marB="45720">
                    <a:lnR w="6668">
                      <a:solidFill>
                        <a:srgbClr val="D4E1D6"/>
                      </a:solidFill>
                      <a:prstDash val="solid"/>
                    </a:lnR>
                    <a:lnB w="6668">
                      <a:solidFill>
                        <a:srgbClr val="D4E1D6"/>
                      </a:solidFill>
                      <a:prstDash val="solid"/>
                    </a:lnB>
                    <a:solidFill>
                      <a:srgbClr val="F8FAF7"/>
                    </a:solidFill>
                  </a:tcPr>
                </a:tc>
              </a:tr>
              <a:tr h="666750">
                <a:tc>
                  <a:txBody>
                    <a:bodyPr/>
                    <a:lstStyle/>
                    <a:p>
                      <a:r>
                        <a:rPr sz="1875" b="0">
                          <a:solidFill>
                            <a:srgbClr val="173F38"/>
                          </a:solidFill>
                          <a:latin typeface="Segoe UI"/>
                          <a:ea typeface="Segoe UI"/>
                          <a:cs typeface="Segoe UI"/>
                        </a:rPr>
                        <a:t>Validation</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12</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Select model and alert cutoff</a:t>
                      </a:r>
                    </a:p>
                  </a:txBody>
                  <a:tcPr marL="91440" marR="91440" marT="45720" marB="45720">
                    <a:lnR w="6668">
                      <a:solidFill>
                        <a:srgbClr val="D4E1D6"/>
                      </a:solidFill>
                      <a:prstDash val="solid"/>
                    </a:lnR>
                    <a:lnB w="6668">
                      <a:solidFill>
                        <a:srgbClr val="D4E1D6"/>
                      </a:solidFill>
                      <a:prstDash val="solid"/>
                    </a:lnB>
                    <a:solidFill>
                      <a:srgbClr val="F8FAF7"/>
                    </a:solidFill>
                  </a:tcPr>
                </a:tc>
              </a:tr>
              <a:tr h="666750">
                <a:tc>
                  <a:txBody>
                    <a:bodyPr/>
                    <a:lstStyle/>
                    <a:p>
                      <a:r>
                        <a:rPr sz="1875" b="0">
                          <a:solidFill>
                            <a:srgbClr val="173F38"/>
                          </a:solidFill>
                          <a:latin typeface="Segoe UI"/>
                          <a:ea typeface="Segoe UI"/>
                          <a:cs typeface="Segoe UI"/>
                        </a:rPr>
                        <a:t>Calibration</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12</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Risk mapping and residual band</a:t>
                      </a:r>
                    </a:p>
                  </a:txBody>
                  <a:tcPr marL="91440" marR="91440" marT="45720" marB="45720">
                    <a:lnR w="6668">
                      <a:solidFill>
                        <a:srgbClr val="D4E1D6"/>
                      </a:solidFill>
                      <a:prstDash val="solid"/>
                    </a:lnR>
                    <a:lnB w="6668">
                      <a:solidFill>
                        <a:srgbClr val="D4E1D6"/>
                      </a:solidFill>
                      <a:prstDash val="solid"/>
                    </a:lnB>
                    <a:solidFill>
                      <a:srgbClr val="F8FAF7"/>
                    </a:solidFill>
                  </a:tcPr>
                </a:tc>
              </a:tr>
              <a:tr h="666750">
                <a:tc>
                  <a:txBody>
                    <a:bodyPr/>
                    <a:lstStyle/>
                    <a:p>
                      <a:r>
                        <a:rPr sz="1875" b="0">
                          <a:solidFill>
                            <a:srgbClr val="173F38"/>
                          </a:solidFill>
                          <a:latin typeface="Segoe UI"/>
                          <a:ea typeface="Segoe UI"/>
                          <a:cs typeface="Segoe UI"/>
                        </a:rPr>
                        <a:t>Final test</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12</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Score 4,416 rolling forecasts</a:t>
                      </a:r>
                    </a:p>
                  </a:txBody>
                  <a:tcPr marL="91440" marR="91440" marT="45720" marB="45720">
                    <a:lnR w="6668">
                      <a:solidFill>
                        <a:srgbClr val="D4E1D6"/>
                      </a:solidFill>
                      <a:prstDash val="solid"/>
                    </a:lnR>
                    <a:lnB w="6668">
                      <a:solidFill>
                        <a:srgbClr val="D4E1D6"/>
                      </a:solidFill>
                      <a:prstDash val="solid"/>
                    </a:lnB>
                    <a:solidFill>
                      <a:srgbClr val="F8FAF7"/>
                    </a:solidFill>
                  </a:tcPr>
                </a:tc>
              </a:tr>
            </a:tbl>
          </a:graphicData>
        </a:graphic>
      </p:graphicFrame>
      <p:sp>
        <p:nvSpPr>
          <p:cNvPr id="5" name="">
            <a:extLst xmlns:a="http://schemas.openxmlformats.org/drawingml/2006/main">
              <a:ext uri="{FF2B5EF4-FFF2-40B4-BE49-F238E27FC236}">
                <a16:creationId xmlns:a16="http://schemas.microsoft.com/office/drawing/2014/main" id="{716DE43B-3706-4D6E-8126-127411B4E71F}"/>
              </a:ext>
            </a:extLst>
          </p:cNvPr>
          <p:cNvSpPr>
            <a:spLocks xmlns:a="http://schemas.openxmlformats.org/drawingml/2006/main" noGrp="1"/>
          </p:cNvSpPr>
          <p:nvPr/>
        </p:nvSpPr>
        <p:spPr>
          <a:xfrm xmlns:a="http://schemas.openxmlformats.org/drawingml/2006/main">
            <a:off x="666750" y="57531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No patient appears in two cohorts. Final forecasts are spaced 30 minutes apart.</a:t>
            </a:r>
          </a:p>
        </p:txBody>
      </p:sp>
      <p:sp>
        <p:nvSpPr>
          <p:cNvPr id="7" name="">
            <a:extLst xmlns:a="http://schemas.openxmlformats.org/drawingml/2006/main">
              <a:ext uri="{FF2B5EF4-FFF2-40B4-BE49-F238E27FC236}">
                <a16:creationId xmlns:a16="http://schemas.microsoft.com/office/drawing/2014/main" id="{70786C1D-3BAD-4299-8D7A-19CEE151DCB7}"/>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Model &amp; benchmarks, evaluation protection</a:t>
            </a:r>
          </a:p>
        </p:txBody>
      </p:sp>
    </p:spTree>
    <p:extLst>
      <p:ext uri="{BB962C8B-B14F-4D97-AF65-F5344CB8AC3E}">
        <p14:creationId xmlns:p14="http://schemas.microsoft.com/office/powerpoint/2010/main" val="108646772"/>
      </p:ext>
    </p:extLst>
  </p:cSld>
</p:sld>
</file>

<file path=ppt/slides/slide11.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72FAF7-78CC-4562-BCBE-6648DDFA186B}"/>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Glucose forecast results</a:t>
            </a:r>
          </a:p>
        </p:txBody>
      </p:sp>
      <p:sp>
        <p:nvSpPr>
          <p:cNvPr id="2" name="">
            <a:extLst xmlns:a="http://schemas.openxmlformats.org/drawingml/2006/main">
              <a:ext uri="{FF2B5EF4-FFF2-40B4-BE49-F238E27FC236}">
                <a16:creationId xmlns:a16="http://schemas.microsoft.com/office/drawing/2014/main" id="{633C76C4-413A-4346-A39F-E92272116601}"/>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03D8BFAC-DE1C-4601-A2D7-D06BB40966B5}"/>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10:40 - 12:00   11/18</a:t>
            </a:r>
          </a:p>
        </p:txBody>
      </p:sp>
      <p:graphicFrame>
        <p:nvGraphicFramePr>
          <p:cNvPr id="4" name="">
            <a:extLst xmlns:a="http://schemas.openxmlformats.org/drawingml/2006/main">
              <a:ext uri="{FF2B5EF4-FFF2-40B4-BE49-F238E27FC236}">
                <a16:creationId xmlns:a16="http://schemas.microsoft.com/office/drawing/2014/main" id="{BA361C7F-84C6-4B95-983F-3DB6A4C61D50}"/>
              </a:ext>
            </a:extLst>
          </p:cNvPr>
          <p:cNvGraphicFramePr/>
          <p:nvPr/>
        </p:nvGraphicFramePr>
        <p:xfrm>
          <a:off xmlns:a="http://schemas.openxmlformats.org/drawingml/2006/main" x="666750" y="1962150"/>
          <a:ext xmlns:a="http://schemas.openxmlformats.org/drawingml/2006/main" cx="10858500" cy="3600450"/>
        </p:xfrm>
        <a:graphic xmlns:a="http://schemas.openxmlformats.org/drawingml/2006/main">
          <a:graphicData uri="http://schemas.openxmlformats.org/drawingml/2006/table">
            <a:tbl>
              <a:tblPr/>
              <a:tblGrid>
                <a:gridCol w="6096000"/>
                <a:gridCol w="2381250"/>
                <a:gridCol w="2381250"/>
              </a:tblGrid>
              <a:tr h="600075">
                <a:tc>
                  <a:txBody>
                    <a:bodyPr/>
                    <a:lstStyle/>
                    <a:p>
                      <a:r>
                        <a:rPr sz="1800" b="1">
                          <a:solidFill>
                            <a:srgbClr val="FFFFFF"/>
                          </a:solidFill>
                          <a:latin typeface="Segoe UI"/>
                          <a:ea typeface="Segoe UI"/>
                          <a:cs typeface="Segoe UI"/>
                        </a:rPr>
                        <a:t>Forecasting method</a:t>
                      </a:r>
                    </a:p>
                  </a:txBody>
                  <a:tcPr marL="91440" marR="91440" marT="45720" marB="45720">
                    <a:lnL w="6668">
                      <a:solidFill>
                        <a:srgbClr val="D4E1D6"/>
                      </a:solidFill>
                      <a:prstDash val="solid"/>
                    </a:lnL>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c>
                  <a:txBody>
                    <a:bodyPr/>
                    <a:lstStyle/>
                    <a:p>
                      <a:r>
                        <a:rPr sz="1800" b="1">
                          <a:solidFill>
                            <a:srgbClr val="FFFFFF"/>
                          </a:solidFill>
                          <a:latin typeface="Segoe UI"/>
                          <a:ea typeface="Segoe UI"/>
                          <a:cs typeface="Segoe UI"/>
                        </a:rPr>
                        <a:t>MAE, mg/dL</a:t>
                      </a:r>
                    </a:p>
                  </a:txBody>
                  <a:tcPr marL="91440" marR="91440" marT="45720" marB="45720">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c>
                  <a:txBody>
                    <a:bodyPr/>
                    <a:lstStyle/>
                    <a:p>
                      <a:r>
                        <a:rPr sz="1800" b="1">
                          <a:solidFill>
                            <a:srgbClr val="FFFFFF"/>
                          </a:solidFill>
                          <a:latin typeface="Segoe UI"/>
                          <a:ea typeface="Segoe UI"/>
                          <a:cs typeface="Segoe UI"/>
                        </a:rPr>
                        <a:t>RMSE, mg/dL</a:t>
                      </a:r>
                    </a:p>
                  </a:txBody>
                  <a:tcPr marL="91440" marR="91440" marT="45720" marB="45720">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r>
              <a:tr h="600075">
                <a:tc>
                  <a:txBody>
                    <a:bodyPr/>
                    <a:lstStyle/>
                    <a:p>
                      <a:r>
                        <a:rPr sz="1800" b="0">
                          <a:solidFill>
                            <a:srgbClr val="173F38"/>
                          </a:solidFill>
                          <a:latin typeface="Segoe UI"/>
                          <a:ea typeface="Segoe UI"/>
                          <a:cs typeface="Segoe UI"/>
                        </a:rPr>
                        <a:t>Ridge fusion</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14.38</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18.72</a:t>
                      </a:r>
                    </a:p>
                  </a:txBody>
                  <a:tcPr marL="91440" marR="91440" marT="45720" marB="45720">
                    <a:lnR w="6668">
                      <a:solidFill>
                        <a:srgbClr val="D4E1D6"/>
                      </a:solidFill>
                      <a:prstDash val="solid"/>
                    </a:lnR>
                    <a:lnB w="6668">
                      <a:solidFill>
                        <a:srgbClr val="D4E1D6"/>
                      </a:solidFill>
                      <a:prstDash val="solid"/>
                    </a:lnB>
                    <a:solidFill>
                      <a:srgbClr val="F8FAF7"/>
                    </a:solidFill>
                  </a:tcPr>
                </a:tc>
              </a:tr>
              <a:tr h="600075">
                <a:tc>
                  <a:txBody>
                    <a:bodyPr/>
                    <a:lstStyle/>
                    <a:p>
                      <a:r>
                        <a:rPr sz="1800" b="0">
                          <a:solidFill>
                            <a:srgbClr val="173F38"/>
                          </a:solidFill>
                          <a:latin typeface="Segoe UI"/>
                          <a:ea typeface="Segoe UI"/>
                          <a:cs typeface="Segoe UI"/>
                        </a:rPr>
                        <a:t>Random forest fusion</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10.04</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14.03</a:t>
                      </a:r>
                    </a:p>
                  </a:txBody>
                  <a:tcPr marL="91440" marR="91440" marT="45720" marB="45720">
                    <a:lnR w="6668">
                      <a:solidFill>
                        <a:srgbClr val="D4E1D6"/>
                      </a:solidFill>
                      <a:prstDash val="solid"/>
                    </a:lnR>
                    <a:lnB w="6668">
                      <a:solidFill>
                        <a:srgbClr val="D4E1D6"/>
                      </a:solidFill>
                      <a:prstDash val="solid"/>
                    </a:lnB>
                    <a:solidFill>
                      <a:srgbClr val="F8FAF7"/>
                    </a:solidFill>
                  </a:tcPr>
                </a:tc>
              </a:tr>
              <a:tr h="600075">
                <a:tc>
                  <a:txBody>
                    <a:bodyPr/>
                    <a:lstStyle/>
                    <a:p>
                      <a:r>
                        <a:rPr sz="1800" b="0">
                          <a:solidFill>
                            <a:srgbClr val="173F38"/>
                          </a:solidFill>
                          <a:latin typeface="Segoe UI"/>
                          <a:ea typeface="Segoe UI"/>
                          <a:cs typeface="Segoe UI"/>
                        </a:rPr>
                        <a:t>Gradient boosting fusion</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10.34</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14.17</a:t>
                      </a:r>
                    </a:p>
                  </a:txBody>
                  <a:tcPr marL="91440" marR="91440" marT="45720" marB="45720">
                    <a:lnR w="6668">
                      <a:solidFill>
                        <a:srgbClr val="D4E1D6"/>
                      </a:solidFill>
                      <a:prstDash val="solid"/>
                    </a:lnR>
                    <a:lnB w="6668">
                      <a:solidFill>
                        <a:srgbClr val="D4E1D6"/>
                      </a:solidFill>
                      <a:prstDash val="solid"/>
                    </a:lnB>
                    <a:solidFill>
                      <a:srgbClr val="F8FAF7"/>
                    </a:solidFill>
                  </a:tcPr>
                </a:tc>
              </a:tr>
              <a:tr h="600075">
                <a:tc>
                  <a:txBody>
                    <a:bodyPr/>
                    <a:lstStyle/>
                    <a:p>
                      <a:r>
                        <a:rPr sz="1800" b="0">
                          <a:solidFill>
                            <a:srgbClr val="173F38"/>
                          </a:solidFill>
                          <a:latin typeface="Segoe UI"/>
                          <a:ea typeface="Segoe UI"/>
                          <a:cs typeface="Segoe UI"/>
                        </a:rPr>
                        <a:t>Persistence</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25.57</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32.91</a:t>
                      </a:r>
                    </a:p>
                  </a:txBody>
                  <a:tcPr marL="91440" marR="91440" marT="45720" marB="45720">
                    <a:lnR w="6668">
                      <a:solidFill>
                        <a:srgbClr val="D4E1D6"/>
                      </a:solidFill>
                      <a:prstDash val="solid"/>
                    </a:lnR>
                    <a:lnB w="6668">
                      <a:solidFill>
                        <a:srgbClr val="D4E1D6"/>
                      </a:solidFill>
                      <a:prstDash val="solid"/>
                    </a:lnB>
                    <a:solidFill>
                      <a:srgbClr val="F8FAF7"/>
                    </a:solidFill>
                  </a:tcPr>
                </a:tc>
              </a:tr>
              <a:tr h="600075">
                <a:tc>
                  <a:txBody>
                    <a:bodyPr/>
                    <a:lstStyle/>
                    <a:p>
                      <a:r>
                        <a:rPr sz="1800" b="0">
                          <a:solidFill>
                            <a:srgbClr val="173F38"/>
                          </a:solidFill>
                          <a:latin typeface="Segoe UI"/>
                          <a:ea typeface="Segoe UI"/>
                          <a:cs typeface="Segoe UI"/>
                        </a:rPr>
                        <a:t>Linear trend</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45.88</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800" b="0">
                          <a:solidFill>
                            <a:srgbClr val="173F38"/>
                          </a:solidFill>
                          <a:latin typeface="Segoe UI"/>
                          <a:ea typeface="Segoe UI"/>
                          <a:cs typeface="Segoe UI"/>
                        </a:rPr>
                        <a:t>61.85</a:t>
                      </a:r>
                    </a:p>
                  </a:txBody>
                  <a:tcPr marL="91440" marR="91440" marT="45720" marB="45720">
                    <a:lnR w="6668">
                      <a:solidFill>
                        <a:srgbClr val="D4E1D6"/>
                      </a:solidFill>
                      <a:prstDash val="solid"/>
                    </a:lnR>
                    <a:lnB w="6668">
                      <a:solidFill>
                        <a:srgbClr val="D4E1D6"/>
                      </a:solidFill>
                      <a:prstDash val="solid"/>
                    </a:lnB>
                    <a:solidFill>
                      <a:srgbClr val="F8FAF7"/>
                    </a:solidFill>
                  </a:tcPr>
                </a:tc>
              </a:tr>
            </a:tbl>
          </a:graphicData>
        </a:graphic>
      </p:graphicFrame>
      <p:sp>
        <p:nvSpPr>
          <p:cNvPr id="5" name="">
            <a:extLst xmlns:a="http://schemas.openxmlformats.org/drawingml/2006/main">
              <a:ext uri="{FF2B5EF4-FFF2-40B4-BE49-F238E27FC236}">
                <a16:creationId xmlns:a16="http://schemas.microsoft.com/office/drawing/2014/main" id="{19057E4A-3B29-4DDE-A042-474392687FAF}"/>
              </a:ext>
            </a:extLst>
          </p:cNvPr>
          <p:cNvSpPr>
            <a:spLocks xmlns:a="http://schemas.openxmlformats.org/drawingml/2006/main" noGrp="1"/>
          </p:cNvSpPr>
          <p:nvPr/>
        </p:nvSpPr>
        <p:spPr>
          <a:xfrm xmlns:a="http://schemas.openxmlformats.org/drawingml/2006/main">
            <a:off x="666750" y="5810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Unseen synthetic patients. Lower error is better. Random forest won on validation.</a:t>
            </a:r>
          </a:p>
        </p:txBody>
      </p:sp>
      <p:sp>
        <p:nvSpPr>
          <p:cNvPr id="7" name="">
            <a:extLst xmlns:a="http://schemas.openxmlformats.org/drawingml/2006/main">
              <a:ext uri="{FF2B5EF4-FFF2-40B4-BE49-F238E27FC236}">
                <a16:creationId xmlns:a16="http://schemas.microsoft.com/office/drawing/2014/main" id="{FB011E4E-49BF-4C5F-B6FE-824C31DEB394}"/>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Model &amp; benchmarks, five forecasting methods</a:t>
            </a:r>
          </a:p>
        </p:txBody>
      </p:sp>
    </p:spTree>
    <p:extLst>
      <p:ext uri="{BB962C8B-B14F-4D97-AF65-F5344CB8AC3E}">
        <p14:creationId xmlns:p14="http://schemas.microsoft.com/office/powerpoint/2010/main" val="2142014777"/>
      </p:ext>
    </p:extLst>
  </p:cSld>
</p:sld>
</file>

<file path=ppt/slides/slide12.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A6B07B-3801-4BCD-9A6D-C646F0A731BD}"/>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Spike detection and false alarms</a:t>
            </a:r>
          </a:p>
        </p:txBody>
      </p:sp>
      <p:sp>
        <p:nvSpPr>
          <p:cNvPr id="2" name="">
            <a:extLst xmlns:a="http://schemas.openxmlformats.org/drawingml/2006/main">
              <a:ext uri="{FF2B5EF4-FFF2-40B4-BE49-F238E27FC236}">
                <a16:creationId xmlns:a16="http://schemas.microsoft.com/office/drawing/2014/main" id="{5B77A9D5-514C-4B50-8AFE-D14DF3A49A55}"/>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875D38E3-CE86-4339-AD5D-C0590704AA5B}"/>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12:00 - 13:20   12/18</a:t>
            </a:r>
          </a:p>
        </p:txBody>
      </p:sp>
      <p:graphicFrame>
        <p:nvGraphicFramePr>
          <p:cNvPr id="4" name="">
            <a:extLst xmlns:a="http://schemas.openxmlformats.org/drawingml/2006/main">
              <a:ext uri="{FF2B5EF4-FFF2-40B4-BE49-F238E27FC236}">
                <a16:creationId xmlns:a16="http://schemas.microsoft.com/office/drawing/2014/main" id="{6BA39DE6-64B3-463D-BE08-7850D594176B}"/>
              </a:ext>
            </a:extLst>
          </p:cNvPr>
          <p:cNvGraphicFramePr/>
          <p:nvPr/>
        </p:nvGraphicFramePr>
        <p:xfrm>
          <a:off xmlns:a="http://schemas.openxmlformats.org/drawingml/2006/main" x="666750" y="2066925"/>
          <a:ext xmlns:a="http://schemas.openxmlformats.org/drawingml/2006/main" cx="10858500" cy="1952625"/>
        </p:xfrm>
        <a:graphic xmlns:a="http://schemas.openxmlformats.org/drawingml/2006/main">
          <a:graphicData uri="http://schemas.openxmlformats.org/drawingml/2006/table">
            <a:tbl>
              <a:tblPr/>
              <a:tblGrid>
                <a:gridCol w="5715000"/>
                <a:gridCol w="2571750"/>
                <a:gridCol w="2571750"/>
              </a:tblGrid>
              <a:tr h="650875">
                <a:tc>
                  <a:txBody>
                    <a:bodyPr/>
                    <a:lstStyle/>
                    <a:p>
                      <a:r>
                        <a:rPr sz="1950" b="1">
                          <a:solidFill>
                            <a:srgbClr val="FFFFFF"/>
                          </a:solidFill>
                          <a:latin typeface="Segoe UI"/>
                          <a:ea typeface="Segoe UI"/>
                          <a:cs typeface="Segoe UI"/>
                        </a:rPr>
                        <a:t>Classifier</a:t>
                      </a:r>
                    </a:p>
                  </a:txBody>
                  <a:tcPr marL="91440" marR="91440" marT="45720" marB="45720">
                    <a:lnL w="6668">
                      <a:solidFill>
                        <a:srgbClr val="D4E1D6"/>
                      </a:solidFill>
                      <a:prstDash val="solid"/>
                    </a:lnL>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c>
                  <a:txBody>
                    <a:bodyPr/>
                    <a:lstStyle/>
                    <a:p>
                      <a:r>
                        <a:rPr sz="1950" b="1">
                          <a:solidFill>
                            <a:srgbClr val="FFFFFF"/>
                          </a:solidFill>
                          <a:latin typeface="Segoe UI"/>
                          <a:ea typeface="Segoe UI"/>
                          <a:cs typeface="Segoe UI"/>
                        </a:rPr>
                        <a:t>Spikes caught</a:t>
                      </a:r>
                    </a:p>
                  </a:txBody>
                  <a:tcPr marL="91440" marR="91440" marT="45720" marB="45720">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c>
                  <a:txBody>
                    <a:bodyPr/>
                    <a:lstStyle/>
                    <a:p>
                      <a:r>
                        <a:rPr sz="1950" b="1">
                          <a:solidFill>
                            <a:srgbClr val="FFFFFF"/>
                          </a:solidFill>
                          <a:latin typeface="Segoe UI"/>
                          <a:ea typeface="Segoe UI"/>
                          <a:cs typeface="Segoe UI"/>
                        </a:rPr>
                        <a:t>Alerts correct</a:t>
                      </a:r>
                    </a:p>
                  </a:txBody>
                  <a:tcPr marL="91440" marR="91440" marT="45720" marB="45720">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r>
              <a:tr h="650875">
                <a:tc>
                  <a:txBody>
                    <a:bodyPr/>
                    <a:lstStyle/>
                    <a:p>
                      <a:r>
                        <a:rPr sz="1950" b="0">
                          <a:solidFill>
                            <a:srgbClr val="173F38"/>
                          </a:solidFill>
                          <a:latin typeface="Segoe UI"/>
                          <a:ea typeface="Segoe UI"/>
                          <a:cs typeface="Segoe UI"/>
                        </a:rPr>
                        <a:t>Logistic</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950" b="0">
                          <a:solidFill>
                            <a:srgbClr val="173F38"/>
                          </a:solidFill>
                          <a:latin typeface="Segoe UI"/>
                          <a:ea typeface="Segoe UI"/>
                          <a:cs typeface="Segoe UI"/>
                        </a:rPr>
                        <a:t>78.0%</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950" b="0">
                          <a:solidFill>
                            <a:srgbClr val="173F38"/>
                          </a:solidFill>
                          <a:latin typeface="Segoe UI"/>
                          <a:ea typeface="Segoe UI"/>
                          <a:cs typeface="Segoe UI"/>
                        </a:rPr>
                        <a:t>32.1%</a:t>
                      </a:r>
                    </a:p>
                  </a:txBody>
                  <a:tcPr marL="91440" marR="91440" marT="45720" marB="45720">
                    <a:lnR w="6668">
                      <a:solidFill>
                        <a:srgbClr val="D4E1D6"/>
                      </a:solidFill>
                      <a:prstDash val="solid"/>
                    </a:lnR>
                    <a:lnB w="6668">
                      <a:solidFill>
                        <a:srgbClr val="D4E1D6"/>
                      </a:solidFill>
                      <a:prstDash val="solid"/>
                    </a:lnB>
                    <a:solidFill>
                      <a:srgbClr val="F8FAF7"/>
                    </a:solidFill>
                  </a:tcPr>
                </a:tc>
              </a:tr>
              <a:tr h="650875">
                <a:tc>
                  <a:txBody>
                    <a:bodyPr/>
                    <a:lstStyle/>
                    <a:p>
                      <a:r>
                        <a:rPr sz="1950" b="0">
                          <a:solidFill>
                            <a:srgbClr val="173F38"/>
                          </a:solidFill>
                          <a:latin typeface="Segoe UI"/>
                          <a:ea typeface="Segoe UI"/>
                          <a:cs typeface="Segoe UI"/>
                        </a:rPr>
                        <a:t>Random forest</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950" b="0">
                          <a:solidFill>
                            <a:srgbClr val="173F38"/>
                          </a:solidFill>
                          <a:latin typeface="Segoe UI"/>
                          <a:ea typeface="Segoe UI"/>
                          <a:cs typeface="Segoe UI"/>
                        </a:rPr>
                        <a:t>71.3%</a:t>
                      </a:r>
                    </a:p>
                  </a:txBody>
                  <a:tcPr marL="91440" marR="91440" marT="45720" marB="45720">
                    <a:lnR w="6668">
                      <a:solidFill>
                        <a:srgbClr val="D4E1D6"/>
                      </a:solidFill>
                      <a:prstDash val="solid"/>
                    </a:lnR>
                    <a:lnB w="6668">
                      <a:solidFill>
                        <a:srgbClr val="D4E1D6"/>
                      </a:solidFill>
                      <a:prstDash val="solid"/>
                    </a:lnB>
                    <a:solidFill>
                      <a:srgbClr val="F8FAF7"/>
                    </a:solidFill>
                  </a:tcPr>
                </a:tc>
                <a:tc>
                  <a:txBody>
                    <a:bodyPr/>
                    <a:lstStyle/>
                    <a:p>
                      <a:r>
                        <a:rPr sz="1950" b="0">
                          <a:solidFill>
                            <a:srgbClr val="173F38"/>
                          </a:solidFill>
                          <a:latin typeface="Segoe UI"/>
                          <a:ea typeface="Segoe UI"/>
                          <a:cs typeface="Segoe UI"/>
                        </a:rPr>
                        <a:t>35.3%</a:t>
                      </a:r>
                    </a:p>
                  </a:txBody>
                  <a:tcPr marL="91440" marR="91440" marT="45720" marB="45720">
                    <a:lnR w="6668">
                      <a:solidFill>
                        <a:srgbClr val="D4E1D6"/>
                      </a:solidFill>
                      <a:prstDash val="solid"/>
                    </a:lnR>
                    <a:lnB w="6668">
                      <a:solidFill>
                        <a:srgbClr val="D4E1D6"/>
                      </a:solidFill>
                      <a:prstDash val="solid"/>
                    </a:lnB>
                    <a:solidFill>
                      <a:srgbClr val="F8FAF7"/>
                    </a:solidFill>
                  </a:tcPr>
                </a:tc>
              </a:tr>
            </a:tbl>
          </a:graphicData>
        </a:graphic>
      </p:graphicFrame>
      <p:sp>
        <p:nvSpPr>
          <p:cNvPr id="5" name="">
            <a:extLst xmlns:a="http://schemas.openxmlformats.org/drawingml/2006/main">
              <a:ext uri="{FF2B5EF4-FFF2-40B4-BE49-F238E27FC236}">
                <a16:creationId xmlns:a16="http://schemas.microsoft.com/office/drawing/2014/main" id="{AA3C8140-B1DF-4DEB-8312-CA886D0FCB62}"/>
              </a:ext>
            </a:extLst>
          </p:cNvPr>
          <p:cNvSpPr>
            <a:spLocks xmlns:a="http://schemas.openxmlformats.org/drawingml/2006/main" noGrp="1"/>
          </p:cNvSpPr>
          <p:nvPr/>
        </p:nvSpPr>
        <p:spPr>
          <a:xfrm xmlns:a="http://schemas.openxmlformats.org/drawingml/2006/main">
            <a:off x="666750" y="45053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73F38"/>
                </a:solidFill>
                <a:latin typeface="Segoe UI"/>
                <a:ea typeface="Segoe UI"/>
                <a:cs typeface="Segoe UI"/>
              </a:defRPr>
            </a:defPPr>
          </a:lstStyle>
          <a:p xmlns:a="http://schemas.openxmlformats.org/drawingml/2006/main">
            <a:pPr>
              <a:buNone/>
              <a:defRPr sz="2325" b="1">
                <a:solidFill>
                  <a:srgbClr val="173F38"/>
                </a:solidFill>
                <a:latin typeface="Segoe UI"/>
                <a:ea typeface="Segoe UI"/>
                <a:cs typeface="Segoe UI"/>
              </a:defRPr>
            </a:pPr>
            <a:r>
              <a:rPr sz="2325" b="1">
                <a:solidFill>
                  <a:srgbClr val="173F38"/>
                </a:solidFill>
                <a:latin typeface="Segoe UI"/>
                <a:ea typeface="Segoe UI"/>
                <a:cs typeface="Segoe UI"/>
              </a:rPr>
              <a:t>211 correct alerts     386 false alarms     85 missed events</a:t>
            </a:r>
          </a:p>
        </p:txBody>
      </p:sp>
      <p:sp>
        <p:nvSpPr>
          <p:cNvPr id="6" name="">
            <a:extLst xmlns:a="http://schemas.openxmlformats.org/drawingml/2006/main">
              <a:ext uri="{FF2B5EF4-FFF2-40B4-BE49-F238E27FC236}">
                <a16:creationId xmlns:a16="http://schemas.microsoft.com/office/drawing/2014/main" id="{D7EDE31F-6A78-4A66-93EB-CA98D7EE8246}"/>
              </a:ext>
            </a:extLst>
          </p:cNvPr>
          <p:cNvSpPr>
            <a:spLocks xmlns:a="http://schemas.openxmlformats.org/drawingml/2006/main" noGrp="1"/>
          </p:cNvSpPr>
          <p:nvPr/>
        </p:nvSpPr>
        <p:spPr>
          <a:xfrm xmlns:a="http://schemas.openxmlformats.org/drawingml/2006/main">
            <a:off x="66675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77D72"/>
                </a:solidFill>
                <a:latin typeface="Segoe UI"/>
                <a:ea typeface="Segoe UI"/>
                <a:cs typeface="Segoe UI"/>
              </a:defRPr>
            </a:defPPr>
          </a:lstStyle>
          <a:p xmlns:a="http://schemas.openxmlformats.org/drawingml/2006/main">
            <a:pPr>
              <a:buNone/>
              <a:defRPr sz="1800" b="0">
                <a:solidFill>
                  <a:srgbClr val="677D72"/>
                </a:solidFill>
                <a:latin typeface="Segoe UI"/>
                <a:ea typeface="Segoe UI"/>
                <a:cs typeface="Segoe UI"/>
              </a:defRPr>
            </a:pPr>
            <a:r>
              <a:rPr sz="1800" b="0">
                <a:solidFill>
                  <a:srgbClr val="677D72"/>
                </a:solidFill>
                <a:latin typeface="Segoe UI"/>
                <a:ea typeface="Segoe UI"/>
                <a:cs typeface="Segoe UI"/>
              </a:rPr>
              <a:t>35.3% precision is a material limitation. Counts refer to overlapping forecast windows.</a:t>
            </a:r>
          </a:p>
        </p:txBody>
      </p:sp>
      <p:sp>
        <p:nvSpPr>
          <p:cNvPr id="8" name="">
            <a:extLst xmlns:a="http://schemas.openxmlformats.org/drawingml/2006/main">
              <a:ext uri="{FF2B5EF4-FFF2-40B4-BE49-F238E27FC236}">
                <a16:creationId xmlns:a16="http://schemas.microsoft.com/office/drawing/2014/main" id="{E77C5E0E-A32C-4C68-BFCA-360C81F40367}"/>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dedicated classifiers and Every alert has an outcome</a:t>
            </a:r>
          </a:p>
        </p:txBody>
      </p:sp>
    </p:spTree>
    <p:extLst>
      <p:ext uri="{BB962C8B-B14F-4D97-AF65-F5344CB8AC3E}">
        <p14:creationId xmlns:p14="http://schemas.microsoft.com/office/powerpoint/2010/main" val="607880635"/>
      </p:ext>
    </p:extLst>
  </p:cSld>
</p:sld>
</file>

<file path=ppt/slides/slide13.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76FF8D-549B-4680-B1D4-306CC97471D5}"/>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Fusion and robustness checks</a:t>
            </a:r>
          </a:p>
        </p:txBody>
      </p:sp>
      <p:sp>
        <p:nvSpPr>
          <p:cNvPr id="2" name="">
            <a:extLst xmlns:a="http://schemas.openxmlformats.org/drawingml/2006/main">
              <a:ext uri="{FF2B5EF4-FFF2-40B4-BE49-F238E27FC236}">
                <a16:creationId xmlns:a16="http://schemas.microsoft.com/office/drawing/2014/main" id="{87095A01-33BB-4FB9-BAFE-C063D259AA11}"/>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E65C6BC5-1499-4183-AACC-87380665BF9B}"/>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13:20 - 14:25   13/18</a:t>
            </a:r>
          </a:p>
        </p:txBody>
      </p:sp>
      <p:graphicFrame>
        <p:nvGraphicFramePr>
          <p:cNvPr id="4" name="">
            <a:extLst xmlns:a="http://schemas.openxmlformats.org/drawingml/2006/main">
              <a:ext uri="{FF2B5EF4-FFF2-40B4-BE49-F238E27FC236}">
                <a16:creationId xmlns:a16="http://schemas.microsoft.com/office/drawing/2014/main" id="{31DA3505-359C-4B22-9799-5EC3AFD912D3}"/>
              </a:ext>
            </a:extLst>
          </p:cNvPr>
          <p:cNvGraphicFramePr/>
          <p:nvPr/>
        </p:nvGraphicFramePr>
        <p:xfrm>
          <a:off xmlns:a="http://schemas.openxmlformats.org/drawingml/2006/main" x="666750" y="2000250"/>
          <a:ext xmlns:a="http://schemas.openxmlformats.org/drawingml/2006/main" cx="10858500" cy="2476500"/>
        </p:xfrm>
        <a:graphic xmlns:a="http://schemas.openxmlformats.org/drawingml/2006/main">
          <a:graphicData uri="http://schemas.openxmlformats.org/drawingml/2006/table">
            <a:tbl>
              <a:tblPr/>
              <a:tblGrid>
                <a:gridCol w="7048500"/>
                <a:gridCol w="3810000"/>
              </a:tblGrid>
              <a:tr h="619125">
                <a:tc>
                  <a:txBody>
                    <a:bodyPr/>
                    <a:lstStyle/>
                    <a:p>
                      <a:r>
                        <a:rPr sz="1875" b="1">
                          <a:solidFill>
                            <a:srgbClr val="FFFFFF"/>
                          </a:solidFill>
                          <a:latin typeface="Segoe UI"/>
                          <a:ea typeface="Segoe UI"/>
                          <a:cs typeface="Segoe UI"/>
                        </a:rPr>
                        <a:t>Input comparison</a:t>
                      </a:r>
                    </a:p>
                  </a:txBody>
                  <a:tcPr marL="91440" marR="91440" marT="45720" marB="45720">
                    <a:lnL w="6668">
                      <a:solidFill>
                        <a:srgbClr val="D4E1D6"/>
                      </a:solidFill>
                      <a:prstDash val="solid"/>
                    </a:lnL>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c>
                  <a:txBody>
                    <a:bodyPr/>
                    <a:lstStyle/>
                    <a:p>
                      <a:r>
                        <a:rPr sz="1875" b="1">
                          <a:solidFill>
                            <a:srgbClr val="FFFFFF"/>
                          </a:solidFill>
                          <a:latin typeface="Segoe UI"/>
                          <a:ea typeface="Segoe UI"/>
                          <a:cs typeface="Segoe UI"/>
                        </a:rPr>
                        <a:t>Regression MAE, mg/dL</a:t>
                      </a:r>
                    </a:p>
                  </a:txBody>
                  <a:tcPr marL="91440" marR="91440" marT="45720" marB="45720">
                    <a:lnR w="6668">
                      <a:solidFill>
                        <a:srgbClr val="D4E1D6"/>
                      </a:solidFill>
                      <a:prstDash val="solid"/>
                    </a:lnR>
                    <a:lnT w="6668">
                      <a:solidFill>
                        <a:srgbClr val="D4E1D6"/>
                      </a:solidFill>
                      <a:prstDash val="solid"/>
                    </a:lnT>
                    <a:lnB w="6668">
                      <a:solidFill>
                        <a:srgbClr val="D4E1D6"/>
                      </a:solidFill>
                      <a:prstDash val="solid"/>
                    </a:lnB>
                    <a:solidFill>
                      <a:srgbClr val="267B71"/>
                    </a:solidFill>
                  </a:tcPr>
                </a:tc>
              </a:tr>
              <a:tr h="619125">
                <a:tc>
                  <a:txBody>
                    <a:bodyPr/>
                    <a:lstStyle/>
                    <a:p>
                      <a:r>
                        <a:rPr sz="1875" b="0">
                          <a:solidFill>
                            <a:srgbClr val="173F38"/>
                          </a:solidFill>
                          <a:latin typeface="Segoe UI"/>
                          <a:ea typeface="Segoe UI"/>
                          <a:cs typeface="Segoe UI"/>
                        </a:rPr>
                        <a:t>Both streams</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10.04</a:t>
                      </a:r>
                    </a:p>
                  </a:txBody>
                  <a:tcPr marL="91440" marR="91440" marT="45720" marB="45720">
                    <a:lnR w="6668">
                      <a:solidFill>
                        <a:srgbClr val="D4E1D6"/>
                      </a:solidFill>
                      <a:prstDash val="solid"/>
                    </a:lnR>
                    <a:lnB w="6668">
                      <a:solidFill>
                        <a:srgbClr val="D4E1D6"/>
                      </a:solidFill>
                      <a:prstDash val="solid"/>
                    </a:lnB>
                    <a:solidFill>
                      <a:srgbClr val="F8FAF7"/>
                    </a:solidFill>
                  </a:tcPr>
                </a:tc>
              </a:tr>
              <a:tr h="619125">
                <a:tc>
                  <a:txBody>
                    <a:bodyPr/>
                    <a:lstStyle/>
                    <a:p>
                      <a:r>
                        <a:rPr sz="1875" b="0">
                          <a:solidFill>
                            <a:srgbClr val="173F38"/>
                          </a:solidFill>
                          <a:latin typeface="Segoe UI"/>
                          <a:ea typeface="Segoe UI"/>
                          <a:cs typeface="Segoe UI"/>
                        </a:rPr>
                        <a:t>EHR only</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19.25</a:t>
                      </a:r>
                    </a:p>
                  </a:txBody>
                  <a:tcPr marL="91440" marR="91440" marT="45720" marB="45720">
                    <a:lnR w="6668">
                      <a:solidFill>
                        <a:srgbClr val="D4E1D6"/>
                      </a:solidFill>
                      <a:prstDash val="solid"/>
                    </a:lnR>
                    <a:lnB w="6668">
                      <a:solidFill>
                        <a:srgbClr val="D4E1D6"/>
                      </a:solidFill>
                      <a:prstDash val="solid"/>
                    </a:lnB>
                    <a:solidFill>
                      <a:srgbClr val="F8FAF7"/>
                    </a:solidFill>
                  </a:tcPr>
                </a:tc>
              </a:tr>
              <a:tr h="619125">
                <a:tc>
                  <a:txBody>
                    <a:bodyPr/>
                    <a:lstStyle/>
                    <a:p>
                      <a:r>
                        <a:rPr sz="1875" b="0">
                          <a:solidFill>
                            <a:srgbClr val="173F38"/>
                          </a:solidFill>
                          <a:latin typeface="Segoe UI"/>
                          <a:ea typeface="Segoe UI"/>
                          <a:cs typeface="Segoe UI"/>
                        </a:rPr>
                        <a:t>Wearables only</a:t>
                      </a:r>
                    </a:p>
                  </a:txBody>
                  <a:tcPr marL="91440" marR="91440" marT="45720" marB="45720">
                    <a:lnL w="6668">
                      <a:solidFill>
                        <a:srgbClr val="D4E1D6"/>
                      </a:solidFill>
                      <a:prstDash val="solid"/>
                    </a:lnL>
                    <a:lnR w="6668">
                      <a:solidFill>
                        <a:srgbClr val="D4E1D6"/>
                      </a:solidFill>
                      <a:prstDash val="solid"/>
                    </a:lnR>
                    <a:lnB w="6668">
                      <a:solidFill>
                        <a:srgbClr val="D4E1D6"/>
                      </a:solidFill>
                      <a:prstDash val="solid"/>
                    </a:lnB>
                    <a:solidFill>
                      <a:srgbClr val="F8FAF7"/>
                    </a:solidFill>
                  </a:tcPr>
                </a:tc>
                <a:tc>
                  <a:txBody>
                    <a:bodyPr/>
                    <a:lstStyle/>
                    <a:p>
                      <a:r>
                        <a:rPr sz="1875" b="0">
                          <a:solidFill>
                            <a:srgbClr val="173F38"/>
                          </a:solidFill>
                          <a:latin typeface="Segoe UI"/>
                          <a:ea typeface="Segoe UI"/>
                          <a:cs typeface="Segoe UI"/>
                        </a:rPr>
                        <a:t>10.25</a:t>
                      </a:r>
                    </a:p>
                  </a:txBody>
                  <a:tcPr marL="91440" marR="91440" marT="45720" marB="45720">
                    <a:lnR w="6668">
                      <a:solidFill>
                        <a:srgbClr val="D4E1D6"/>
                      </a:solidFill>
                      <a:prstDash val="solid"/>
                    </a:lnR>
                    <a:lnB w="6668">
                      <a:solidFill>
                        <a:srgbClr val="D4E1D6"/>
                      </a:solidFill>
                      <a:prstDash val="solid"/>
                    </a:lnB>
                    <a:solidFill>
                      <a:srgbClr val="F8FAF7"/>
                    </a:solidFill>
                  </a:tcPr>
                </a:tc>
              </a:tr>
            </a:tbl>
          </a:graphicData>
        </a:graphic>
      </p:graphicFrame>
      <p:sp>
        <p:nvSpPr>
          <p:cNvPr id="5" name="">
            <a:extLst xmlns:a="http://schemas.openxmlformats.org/drawingml/2006/main">
              <a:ext uri="{FF2B5EF4-FFF2-40B4-BE49-F238E27FC236}">
                <a16:creationId xmlns:a16="http://schemas.microsoft.com/office/drawing/2014/main" id="{7E95D0A0-009E-4BB9-87DA-F268D5216C99}"/>
              </a:ext>
            </a:extLst>
          </p:cNvPr>
          <p:cNvSpPr>
            <a:spLocks xmlns:a="http://schemas.openxmlformats.org/drawingml/2006/main" noGrp="1"/>
          </p:cNvSpPr>
          <p:nvPr/>
        </p:nvSpPr>
        <p:spPr>
          <a:xfrm xmlns:a="http://schemas.openxmlformats.org/drawingml/2006/main">
            <a:off x="666750" y="483870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F38"/>
                </a:solidFill>
                <a:latin typeface="Segoe UI"/>
                <a:ea typeface="Segoe UI"/>
                <a:cs typeface="Segoe UI"/>
              </a:defRPr>
            </a:defPPr>
          </a:lstStyle>
          <a:p xmlns:a="http://schemas.openxmlformats.org/drawingml/2006/main">
            <a:pPr>
              <a:buNone/>
              <a:defRPr sz="2100" b="1">
                <a:solidFill>
                  <a:srgbClr val="173F38"/>
                </a:solidFill>
                <a:latin typeface="Segoe UI"/>
                <a:ea typeface="Segoe UI"/>
                <a:cs typeface="Segoe UI"/>
              </a:defRPr>
            </a:pPr>
            <a:r>
              <a:rPr sz="2100" b="1">
                <a:solidFill>
                  <a:srgbClr val="173F38"/>
                </a:solidFill>
                <a:latin typeface="Segoe UI"/>
                <a:ea typeface="Segoe UI"/>
                <a:cs typeface="Segoe UI"/>
              </a:rPr>
              <a:t>Additional checks</a:t>
            </a:r>
          </a:p>
        </p:txBody>
      </p:sp>
      <p:sp>
        <p:nvSpPr>
          <p:cNvPr id="6" name="">
            <a:extLst xmlns:a="http://schemas.openxmlformats.org/drawingml/2006/main">
              <a:ext uri="{FF2B5EF4-FFF2-40B4-BE49-F238E27FC236}">
                <a16:creationId xmlns:a16="http://schemas.microsoft.com/office/drawing/2014/main" id="{5CBFE753-A7CE-410E-8730-7BCC280E425D}"/>
              </a:ext>
            </a:extLst>
          </p:cNvPr>
          <p:cNvSpPr>
            <a:spLocks xmlns:a="http://schemas.openxmlformats.org/drawingml/2006/main" noGrp="1"/>
          </p:cNvSpPr>
          <p:nvPr/>
        </p:nvSpPr>
        <p:spPr>
          <a:xfrm xmlns:a="http://schemas.openxmlformats.org/drawingml/2006/main">
            <a:off x="666750" y="53054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77D72"/>
                </a:solidFill>
                <a:latin typeface="Segoe UI"/>
                <a:ea typeface="Segoe UI"/>
                <a:cs typeface="Segoe UI"/>
              </a:defRPr>
            </a:defPPr>
          </a:lstStyle>
          <a:p xmlns:a="http://schemas.openxmlformats.org/drawingml/2006/main">
            <a:pPr>
              <a:buNone/>
              <a:defRPr sz="1800" b="0">
                <a:solidFill>
                  <a:srgbClr val="677D72"/>
                </a:solidFill>
                <a:latin typeface="Segoe UI"/>
                <a:ea typeface="Segoe UI"/>
                <a:cs typeface="Segoe UI"/>
              </a:defRPr>
            </a:pPr>
            <a:r>
              <a:rPr sz="1800" b="0">
                <a:solidFill>
                  <a:srgbClr val="677D72"/>
                </a:solidFill>
                <a:latin typeface="Segoe UI"/>
                <a:ea typeface="Segoe UI"/>
                <a:cs typeface="Segoe UI"/>
              </a:rPr>
              <a:t>Patient-group and chronological tests, CGM gaps and noise, subgroup diagnostics and patient bootstrap.</a:t>
            </a:r>
          </a:p>
        </p:txBody>
      </p:sp>
      <p:sp>
        <p:nvSpPr>
          <p:cNvPr id="8" name="">
            <a:extLst xmlns:a="http://schemas.openxmlformats.org/drawingml/2006/main">
              <a:ext uri="{FF2B5EF4-FFF2-40B4-BE49-F238E27FC236}">
                <a16:creationId xmlns:a16="http://schemas.microsoft.com/office/drawing/2014/main" id="{88362951-C5AD-4CF4-AB4D-856BEDF945C0}"/>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stream ablations and imperfect-sensor diagnostics</a:t>
            </a:r>
          </a:p>
        </p:txBody>
      </p:sp>
    </p:spTree>
    <p:extLst>
      <p:ext uri="{BB962C8B-B14F-4D97-AF65-F5344CB8AC3E}">
        <p14:creationId xmlns:p14="http://schemas.microsoft.com/office/powerpoint/2010/main" val="1513143810"/>
      </p:ext>
    </p:extLst>
  </p:cSld>
</p:sld>
</file>

<file path=ppt/slides/slide14.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6D67C0-AFB9-4EDE-BAB9-11FF061CA561}"/>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Clinician dashboard</a:t>
            </a:r>
          </a:p>
        </p:txBody>
      </p:sp>
      <p:sp>
        <p:nvSpPr>
          <p:cNvPr id="2" name="">
            <a:extLst xmlns:a="http://schemas.openxmlformats.org/drawingml/2006/main">
              <a:ext uri="{FF2B5EF4-FFF2-40B4-BE49-F238E27FC236}">
                <a16:creationId xmlns:a16="http://schemas.microsoft.com/office/drawing/2014/main" id="{1A555C8D-5195-4914-A367-27B90D69C8BD}"/>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AE7DDAD1-A45A-458D-8BB0-3DD41B2EAEE3}"/>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14:25 - 15:15   14/18</a:t>
            </a:r>
          </a:p>
        </p:txBody>
      </p:sp>
      <p:pic>
        <p:nvPicPr>
          <p:cNvPr id="4" name="">
            <a:extLst xmlns:a="http://schemas.openxmlformats.org/drawingml/2006/main">
              <a:ext uri="{FF2B5EF4-FFF2-40B4-BE49-F238E27FC236}">
                <a16:creationId xmlns:a16="http://schemas.microsoft.com/office/drawing/2014/main" id="{64E06064-DAF1-4337-99E1-DCBB0E8E78E4}"/>
              </a:ext>
            </a:extLst>
          </p:cNvPr>
          <p:cNvPicPr>
            <a:picLocks xmlns:a="http://schemas.openxmlformats.org/drawingml/2006/main" noChangeAspect="1"/>
          </p:cNvPicPr>
          <p:nvPr/>
        </p:nvPicPr>
        <p:blipFill>
          <a:blip xmlns:r="http://schemas.openxmlformats.org/officeDocument/2006/relationships" xmlns:a="http://schemas.openxmlformats.org/drawingml/2006/main" r:embed="R1c436426207d4757"/>
          <a:stretch xmlns:a="http://schemas.openxmlformats.org/drawingml/2006/main"/>
        </p:blipFill>
        <p:spPr>
          <a:xfrm xmlns:a="http://schemas.openxmlformats.org/drawingml/2006/main">
            <a:off x="6810375" y="1706685"/>
            <a:ext cx="4714875" cy="426377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3384031-6E58-4D7D-AC16-56A494AC1388}"/>
              </a:ext>
            </a:extLst>
          </p:cNvPr>
          <p:cNvSpPr>
            <a:spLocks xmlns:a="http://schemas.openxmlformats.org/drawingml/2006/main" noGrp="1"/>
          </p:cNvSpPr>
          <p:nvPr/>
        </p:nvSpPr>
        <p:spPr>
          <a:xfrm xmlns:a="http://schemas.openxmlformats.org/drawingml/2006/main">
            <a:off x="666750" y="2171700"/>
            <a:ext cx="552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67B71"/>
                </a:solidFill>
                <a:latin typeface="Segoe UI"/>
                <a:ea typeface="Segoe UI"/>
                <a:cs typeface="Segoe UI"/>
              </a:defRPr>
            </a:defPPr>
          </a:lstStyle>
          <a:p xmlns:a="http://schemas.openxmlformats.org/drawingml/2006/main">
            <a:pPr>
              <a:buNone/>
              <a:defRPr sz="2325" b="1">
                <a:solidFill>
                  <a:srgbClr val="267B71"/>
                </a:solidFill>
                <a:latin typeface="Segoe UI"/>
                <a:ea typeface="Segoe UI"/>
                <a:cs typeface="Segoe UI"/>
              </a:defRPr>
            </a:pPr>
            <a:r>
              <a:rPr sz="2325" b="1">
                <a:solidFill>
                  <a:srgbClr val="267B71"/>
                </a:solidFill>
                <a:latin typeface="Segoe UI"/>
                <a:ea typeface="Segoe UI"/>
                <a:cs typeface="Segoe UI"/>
              </a:rPr>
              <a:t>Patient state and source signals</a:t>
            </a:r>
          </a:p>
        </p:txBody>
      </p:sp>
      <p:sp>
        <p:nvSpPr>
          <p:cNvPr id="6" name="">
            <a:extLst xmlns:a="http://schemas.openxmlformats.org/drawingml/2006/main">
              <a:ext uri="{FF2B5EF4-FFF2-40B4-BE49-F238E27FC236}">
                <a16:creationId xmlns:a16="http://schemas.microsoft.com/office/drawing/2014/main" id="{28D05012-341A-4939-A074-6FBD8A073F15}"/>
              </a:ext>
            </a:extLst>
          </p:cNvPr>
          <p:cNvSpPr>
            <a:spLocks xmlns:a="http://schemas.openxmlformats.org/drawingml/2006/main" noGrp="1"/>
          </p:cNvSpPr>
          <p:nvPr/>
        </p:nvSpPr>
        <p:spPr>
          <a:xfrm xmlns:a="http://schemas.openxmlformats.org/drawingml/2006/main">
            <a:off x="666750" y="3095625"/>
            <a:ext cx="5429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F38"/>
                </a:solidFill>
                <a:latin typeface="Segoe UI"/>
                <a:ea typeface="Segoe UI"/>
                <a:cs typeface="Segoe UI"/>
              </a:defRPr>
            </a:defPPr>
          </a:lstStyle>
          <a:p xmlns:a="http://schemas.openxmlformats.org/drawingml/2006/main">
            <a:pPr>
              <a:buNone/>
              <a:defRPr sz="2025" b="0">
                <a:solidFill>
                  <a:srgbClr val="173F38"/>
                </a:solidFill>
                <a:latin typeface="Segoe UI"/>
                <a:ea typeface="Segoe UI"/>
                <a:cs typeface="Segoe UI"/>
              </a:defRPr>
            </a:pPr>
            <a:r>
              <a:rPr sz="2025" b="0">
                <a:solidFill>
                  <a:srgbClr val="173F38"/>
                </a:solidFill>
                <a:latin typeface="Segoe UI"/>
                <a:ea typeface="Segoe UI"/>
                <a:cs typeface="Segoe UI"/>
              </a:rPr>
              <a:t>Glucose forecast and early warning</a:t>
            </a:r>
          </a:p>
          <a:p xmlns:a="http://schemas.openxmlformats.org/drawingml/2006/main">
            <a:r>
              <a:t/>
            </a:r>
          </a:p>
          <a:p xmlns:a="http://schemas.openxmlformats.org/drawingml/2006/main">
            <a:pPr>
              <a:buNone/>
              <a:defRPr sz="2025" b="0">
                <a:solidFill>
                  <a:srgbClr val="173F38"/>
                </a:solidFill>
                <a:latin typeface="Segoe UI"/>
                <a:ea typeface="Segoe UI"/>
                <a:cs typeface="Segoe UI"/>
              </a:defRPr>
            </a:pPr>
            <a:r>
              <a:rPr sz="2025" b="0">
                <a:solidFill>
                  <a:srgbClr val="173F38"/>
                </a:solidFill>
                <a:latin typeface="Segoe UI"/>
                <a:ea typeface="Segoe UI"/>
                <a:cs typeface="Segoe UI"/>
              </a:rPr>
              <a:t>Outcome reveal with the saved forecast</a:t>
            </a:r>
          </a:p>
          <a:p xmlns:a="http://schemas.openxmlformats.org/drawingml/2006/main">
            <a:r>
              <a:t/>
            </a:r>
          </a:p>
          <a:p xmlns:a="http://schemas.openxmlformats.org/drawingml/2006/main">
            <a:pPr>
              <a:buNone/>
              <a:defRPr sz="2025" b="0">
                <a:solidFill>
                  <a:srgbClr val="173F38"/>
                </a:solidFill>
                <a:latin typeface="Segoe UI"/>
                <a:ea typeface="Segoe UI"/>
                <a:cs typeface="Segoe UI"/>
              </a:defRPr>
            </a:pPr>
            <a:r>
              <a:rPr sz="2025" b="0">
                <a:solidFill>
                  <a:srgbClr val="173F38"/>
                </a:solidFill>
                <a:latin typeface="Segoe UI"/>
                <a:ea typeface="Segoe UI"/>
                <a:cs typeface="Segoe UI"/>
              </a:rPr>
              <a:t>Exportable records and benchmark results</a:t>
            </a:r>
          </a:p>
        </p:txBody>
      </p:sp>
      <p:sp>
        <p:nvSpPr>
          <p:cNvPr id="8" name="">
            <a:extLst xmlns:a="http://schemas.openxmlformats.org/drawingml/2006/main">
              <a:ext uri="{FF2B5EF4-FFF2-40B4-BE49-F238E27FC236}">
                <a16:creationId xmlns:a16="http://schemas.microsoft.com/office/drawing/2014/main" id="{381C1424-AD2D-4F53-A705-0B6F3691BC8E}"/>
              </a:ext>
            </a:extLst>
          </p:cNvPr>
          <p:cNvSpPr>
            <a:spLocks xmlns:a="http://schemas.openxmlformats.org/drawingml/2006/main" noGrp="1"/>
          </p:cNvSpPr>
          <p:nvPr/>
        </p:nvSpPr>
        <p:spPr>
          <a:xfrm xmlns:a="http://schemas.openxmlformats.org/drawingml/2006/main">
            <a:off x="666750" y="1647825"/>
            <a:ext cx="590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Patient overview and replay controls</a:t>
            </a:r>
          </a:p>
        </p:txBody>
      </p:sp>
    </p:spTree>
    <p:extLst>
      <p:ext uri="{BB962C8B-B14F-4D97-AF65-F5344CB8AC3E}">
        <p14:creationId xmlns:p14="http://schemas.microsoft.com/office/powerpoint/2010/main" val="408913868"/>
      </p:ext>
    </p:extLst>
  </p:cSld>
</p:sld>
</file>

<file path=ppt/slides/slide15.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3BB392-93F7-4721-BCDC-556CDC854C2B}"/>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Live prototype demonstration</a:t>
            </a:r>
          </a:p>
        </p:txBody>
      </p:sp>
      <p:sp>
        <p:nvSpPr>
          <p:cNvPr id="2" name="">
            <a:extLst xmlns:a="http://schemas.openxmlformats.org/drawingml/2006/main">
              <a:ext uri="{FF2B5EF4-FFF2-40B4-BE49-F238E27FC236}">
                <a16:creationId xmlns:a16="http://schemas.microsoft.com/office/drawing/2014/main" id="{955932B9-34FC-4DFA-AB52-0286F7281244}"/>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CE3561F9-B271-4B18-8BEB-34B175BA0B0C}"/>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15:15 - 17:15   15/18</a:t>
            </a:r>
          </a:p>
        </p:txBody>
      </p:sp>
      <p:sp>
        <p:nvSpPr>
          <p:cNvPr id="4" name="">
            <a:extLst xmlns:a="http://schemas.openxmlformats.org/drawingml/2006/main">
              <a:ext uri="{FF2B5EF4-FFF2-40B4-BE49-F238E27FC236}">
                <a16:creationId xmlns:a16="http://schemas.microsoft.com/office/drawing/2014/main" id="{6DB023A3-B760-4865-94DF-FA3540207331}"/>
              </a:ext>
            </a:extLst>
          </p:cNvPr>
          <p:cNvSpPr>
            <a:spLocks xmlns:a="http://schemas.openxmlformats.org/drawingml/2006/main" noGrp="1"/>
          </p:cNvSpPr>
          <p:nvPr/>
        </p:nvSpPr>
        <p:spPr>
          <a:xfrm xmlns:a="http://schemas.openxmlformats.org/drawingml/2006/main">
            <a:off x="666750" y="20193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267B71"/>
                </a:solidFill>
                <a:latin typeface="Segoe UI"/>
                <a:ea typeface="Segoe UI"/>
                <a:cs typeface="Segoe UI"/>
              </a:defRPr>
            </a:defPPr>
          </a:lstStyle>
          <a:p xmlns:a="http://schemas.openxmlformats.org/drawingml/2006/main">
            <a:pPr>
              <a:buNone/>
              <a:defRPr sz="2400" b="1">
                <a:solidFill>
                  <a:srgbClr val="267B71"/>
                </a:solidFill>
                <a:latin typeface="Segoe UI"/>
                <a:ea typeface="Segoe UI"/>
                <a:cs typeface="Segoe UI"/>
              </a:defRPr>
            </a:pPr>
            <a:r>
              <a:rPr sz="2400" b="1">
                <a:solidFill>
                  <a:srgbClr val="267B71"/>
                </a:solidFill>
                <a:latin typeface="Segoe UI"/>
                <a:ea typeface="Segoe UI"/>
                <a:cs typeface="Segoe UI"/>
              </a:rPr>
              <a:t>Demonstration sequence</a:t>
            </a:r>
          </a:p>
        </p:txBody>
      </p:sp>
      <p:sp>
        <p:nvSpPr>
          <p:cNvPr id="5" name="">
            <a:extLst xmlns:a="http://schemas.openxmlformats.org/drawingml/2006/main">
              <a:ext uri="{FF2B5EF4-FFF2-40B4-BE49-F238E27FC236}">
                <a16:creationId xmlns:a16="http://schemas.microsoft.com/office/drawing/2014/main" id="{9B3BDA04-0CAC-45DD-89BD-E5312B75A44D}"/>
              </a:ext>
            </a:extLst>
          </p:cNvPr>
          <p:cNvSpPr>
            <a:spLocks xmlns:a="http://schemas.openxmlformats.org/drawingml/2006/main" noGrp="1"/>
          </p:cNvSpPr>
          <p:nvPr/>
        </p:nvSpPr>
        <p:spPr>
          <a:xfrm xmlns:a="http://schemas.openxmlformats.org/drawingml/2006/main">
            <a:off x="666750" y="276225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F38"/>
                </a:solidFill>
                <a:latin typeface="Segoe UI"/>
                <a:ea typeface="Segoe UI"/>
                <a:cs typeface="Segoe UI"/>
              </a:defRPr>
            </a:defPPr>
          </a:lstStyle>
          <a:p xmlns:a="http://schemas.openxmlformats.org/drawingml/2006/main">
            <a:pPr>
              <a:buNone/>
              <a:defRPr sz="2175" b="0">
                <a:solidFill>
                  <a:srgbClr val="173F38"/>
                </a:solidFill>
                <a:latin typeface="Segoe UI"/>
                <a:ea typeface="Segoe UI"/>
                <a:cs typeface="Segoe UI"/>
              </a:defRPr>
            </a:pPr>
            <a:r>
              <a:rPr sz="2175" b="0">
                <a:solidFill>
                  <a:srgbClr val="173F38"/>
                </a:solidFill>
                <a:latin typeface="Segoe UI"/>
                <a:ea typeface="Segoe UI"/>
                <a:cs typeface="Segoe UI"/>
              </a:rPr>
              <a:t>15:15–15:35   Inspect the two data streams</a:t>
            </a:r>
          </a:p>
          <a:p xmlns:a="http://schemas.openxmlformats.org/drawingml/2006/main">
            <a:pPr>
              <a:buNone/>
              <a:defRPr sz="2175" b="0">
                <a:solidFill>
                  <a:srgbClr val="173F38"/>
                </a:solidFill>
                <a:latin typeface="Segoe UI"/>
                <a:ea typeface="Segoe UI"/>
                <a:cs typeface="Segoe UI"/>
              </a:defRPr>
            </a:pPr>
            <a:r>
              <a:rPr sz="2175" b="0">
                <a:solidFill>
                  <a:srgbClr val="173F38"/>
                </a:solidFill>
                <a:latin typeface="Segoe UI"/>
                <a:ea typeface="Segoe UI"/>
                <a:cs typeface="Segoe UI"/>
              </a:rPr>
              <a:t>15:35–16:00   Correct warning, then reveal</a:t>
            </a:r>
          </a:p>
          <a:p xmlns:a="http://schemas.openxmlformats.org/drawingml/2006/main">
            <a:pPr>
              <a:buNone/>
              <a:defRPr sz="2175" b="0">
                <a:solidFill>
                  <a:srgbClr val="173F38"/>
                </a:solidFill>
                <a:latin typeface="Segoe UI"/>
                <a:ea typeface="Segoe UI"/>
                <a:cs typeface="Segoe UI"/>
              </a:defRPr>
            </a:pPr>
            <a:r>
              <a:rPr sz="2175" b="0">
                <a:solidFill>
                  <a:srgbClr val="173F38"/>
                </a:solidFill>
                <a:latin typeface="Segoe UI"/>
                <a:ea typeface="Segoe UI"/>
                <a:cs typeface="Segoe UI"/>
              </a:rPr>
              <a:t>16:00–16:25   False alarm, then reveal</a:t>
            </a:r>
          </a:p>
          <a:p xmlns:a="http://schemas.openxmlformats.org/drawingml/2006/main">
            <a:pPr>
              <a:buNone/>
              <a:defRPr sz="2175" b="0">
                <a:solidFill>
                  <a:srgbClr val="173F38"/>
                </a:solidFill>
                <a:latin typeface="Segoe UI"/>
                <a:ea typeface="Segoe UI"/>
                <a:cs typeface="Segoe UI"/>
              </a:defRPr>
            </a:pPr>
            <a:r>
              <a:rPr sz="2175" b="0">
                <a:solidFill>
                  <a:srgbClr val="173F38"/>
                </a:solidFill>
                <a:latin typeface="Segoe UI"/>
                <a:ea typeface="Segoe UI"/>
                <a:cs typeface="Segoe UI"/>
              </a:rPr>
              <a:t>16:25–16:45   Missed event, then reveal</a:t>
            </a:r>
          </a:p>
          <a:p xmlns:a="http://schemas.openxmlformats.org/drawingml/2006/main">
            <a:pPr>
              <a:buNone/>
              <a:defRPr sz="2175" b="0">
                <a:solidFill>
                  <a:srgbClr val="173F38"/>
                </a:solidFill>
                <a:latin typeface="Segoe UI"/>
                <a:ea typeface="Segoe UI"/>
                <a:cs typeface="Segoe UI"/>
              </a:defRPr>
            </a:pPr>
            <a:r>
              <a:rPr sz="2175" b="0">
                <a:solidFill>
                  <a:srgbClr val="173F38"/>
                </a:solidFill>
                <a:latin typeface="Segoe UI"/>
                <a:ea typeface="Segoe UI"/>
                <a:cs typeface="Segoe UI"/>
              </a:rPr>
              <a:t>16:45–17:15   Update time, test a gap and export</a:t>
            </a:r>
          </a:p>
        </p:txBody>
      </p:sp>
      <p:sp>
        <p:nvSpPr>
          <p:cNvPr id="6" name="">
            <a:extLst xmlns:a="http://schemas.openxmlformats.org/drawingml/2006/main">
              <a:ext uri="{FF2B5EF4-FFF2-40B4-BE49-F238E27FC236}">
                <a16:creationId xmlns:a16="http://schemas.microsoft.com/office/drawing/2014/main" id="{2EA714C9-C5E5-4617-8769-ED83AB4C3917}"/>
              </a:ext>
            </a:extLst>
          </p:cNvPr>
          <p:cNvSpPr>
            <a:spLocks xmlns:a="http://schemas.openxmlformats.org/drawingml/2006/main" noGrp="1"/>
          </p:cNvSpPr>
          <p:nvPr/>
        </p:nvSpPr>
        <p:spPr>
          <a:xfrm xmlns:a="http://schemas.openxmlformats.org/drawingml/2006/main">
            <a:off x="666750" y="55530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67B71"/>
                </a:solidFill>
                <a:latin typeface="Segoe UI"/>
                <a:ea typeface="Segoe UI"/>
                <a:cs typeface="Segoe UI"/>
              </a:defRPr>
            </a:defPPr>
          </a:lstStyle>
          <a:p xmlns:a="http://schemas.openxmlformats.org/drawingml/2006/main">
            <a:pPr>
              <a:buNone/>
              <a:defRPr sz="1800" b="0">
                <a:solidFill>
                  <a:srgbClr val="267B71"/>
                </a:solidFill>
                <a:latin typeface="Segoe UI"/>
                <a:ea typeface="Segoe UI"/>
                <a:cs typeface="Segoe UI"/>
              </a:defRPr>
            </a:pPr>
            <a:r>
              <a:rPr sz="1800" u="sng">
                <a:solidFill>
                  <a:srgbClr val="267B71"/>
                </a:solidFill>
                <a:latin typeface="Segoe UI"/>
                <a:ea typeface="Segoe UI"/>
                <a:cs typeface="Segoe UI"/>
                <a:hlinkClick xmlns:r="http://schemas.openxmlformats.org/officeDocument/2006/relationships" r:id="Rc64be3bca3c74845"/>
              </a:rPr>
              <a:t>Open the working prototype</a:t>
            </a:r>
          </a:p>
        </p:txBody>
      </p:sp>
      <p:sp>
        <p:nvSpPr>
          <p:cNvPr id="8" name="">
            <a:extLst xmlns:a="http://schemas.openxmlformats.org/drawingml/2006/main">
              <a:ext uri="{FF2B5EF4-FFF2-40B4-BE49-F238E27FC236}">
                <a16:creationId xmlns:a16="http://schemas.microsoft.com/office/drawing/2014/main" id="{662E4022-72B7-4BE1-A090-BBA1040CCF7C}"/>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measured outcomes, state update, sensor gap and export</a:t>
            </a:r>
          </a:p>
        </p:txBody>
      </p:sp>
    </p:spTree>
    <p:extLst>
      <p:ext uri="{BB962C8B-B14F-4D97-AF65-F5344CB8AC3E}">
        <p14:creationId xmlns:p14="http://schemas.microsoft.com/office/powerpoint/2010/main" val="502280127"/>
      </p:ext>
    </p:extLst>
  </p:cSld>
</p:sld>
</file>

<file path=ppt/slides/slide16.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801459-6B13-46DA-A6AB-3289C67CF85A}"/>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Limitations and research next steps</a:t>
            </a:r>
          </a:p>
        </p:txBody>
      </p:sp>
      <p:sp>
        <p:nvSpPr>
          <p:cNvPr id="2" name="">
            <a:extLst xmlns:a="http://schemas.openxmlformats.org/drawingml/2006/main">
              <a:ext uri="{FF2B5EF4-FFF2-40B4-BE49-F238E27FC236}">
                <a16:creationId xmlns:a16="http://schemas.microsoft.com/office/drawing/2014/main" id="{1FF74D46-AC30-43FF-B1AF-9A7B2876EB14}"/>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0DDA1A2B-7F5C-45F1-9F18-290387961E20}"/>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17:15 - 18:20   16/18</a:t>
            </a:r>
          </a:p>
        </p:txBody>
      </p:sp>
      <p:sp>
        <p:nvSpPr>
          <p:cNvPr id="4" name="">
            <a:extLst xmlns:a="http://schemas.openxmlformats.org/drawingml/2006/main">
              <a:ext uri="{FF2B5EF4-FFF2-40B4-BE49-F238E27FC236}">
                <a16:creationId xmlns:a16="http://schemas.microsoft.com/office/drawing/2014/main" id="{ED32DC9B-7AB9-4FDE-9925-1F188456FFF9}"/>
              </a:ext>
            </a:extLst>
          </p:cNvPr>
          <p:cNvSpPr>
            <a:spLocks xmlns:a="http://schemas.openxmlformats.org/drawingml/2006/main" noGrp="1"/>
          </p:cNvSpPr>
          <p:nvPr/>
        </p:nvSpPr>
        <p:spPr>
          <a:xfrm xmlns:a="http://schemas.openxmlformats.org/drawingml/2006/main">
            <a:off x="666750" y="207645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Synthetic validation</a:t>
            </a:r>
          </a:p>
        </p:txBody>
      </p:sp>
      <p:sp>
        <p:nvSpPr>
          <p:cNvPr id="5" name="">
            <a:extLst xmlns:a="http://schemas.openxmlformats.org/drawingml/2006/main">
              <a:ext uri="{FF2B5EF4-FFF2-40B4-BE49-F238E27FC236}">
                <a16:creationId xmlns:a16="http://schemas.microsoft.com/office/drawing/2014/main" id="{F3AAC94E-E494-4900-89D4-AFBD80EE94EF}"/>
              </a:ext>
            </a:extLst>
          </p:cNvPr>
          <p:cNvSpPr>
            <a:spLocks xmlns:a="http://schemas.openxmlformats.org/drawingml/2006/main" noGrp="1"/>
          </p:cNvSpPr>
          <p:nvPr/>
        </p:nvSpPr>
        <p:spPr>
          <a:xfrm xmlns:a="http://schemas.openxmlformats.org/drawingml/2006/main">
            <a:off x="666750" y="25431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The generator does not establish real-world clinical accuracy.</a:t>
            </a:r>
          </a:p>
        </p:txBody>
      </p:sp>
      <p:sp>
        <p:nvSpPr>
          <p:cNvPr id="6" name="">
            <a:extLst xmlns:a="http://schemas.openxmlformats.org/drawingml/2006/main">
              <a:ext uri="{FF2B5EF4-FFF2-40B4-BE49-F238E27FC236}">
                <a16:creationId xmlns:a16="http://schemas.microsoft.com/office/drawing/2014/main" id="{217B9AB9-9771-4FCA-9A78-7886D7189538}"/>
              </a:ext>
            </a:extLst>
          </p:cNvPr>
          <p:cNvSpPr>
            <a:spLocks xmlns:a="http://schemas.openxmlformats.org/drawingml/2006/main" noGrp="1"/>
          </p:cNvSpPr>
          <p:nvPr/>
        </p:nvSpPr>
        <p:spPr>
          <a:xfrm xmlns:a="http://schemas.openxmlformats.org/drawingml/2006/main">
            <a:off x="666750" y="34385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Substantial false alarms</a:t>
            </a:r>
          </a:p>
        </p:txBody>
      </p:sp>
      <p:sp>
        <p:nvSpPr>
          <p:cNvPr id="7" name="">
            <a:extLst xmlns:a="http://schemas.openxmlformats.org/drawingml/2006/main">
              <a:ext uri="{FF2B5EF4-FFF2-40B4-BE49-F238E27FC236}">
                <a16:creationId xmlns:a16="http://schemas.microsoft.com/office/drawing/2014/main" id="{1D442522-F6FB-4451-9DE7-95E4CEC25CE0}"/>
              </a:ext>
            </a:extLst>
          </p:cNvPr>
          <p:cNvSpPr>
            <a:spLocks xmlns:a="http://schemas.openxmlformats.org/drawingml/2006/main" noGrp="1"/>
          </p:cNvSpPr>
          <p:nvPr/>
        </p:nvSpPr>
        <p:spPr>
          <a:xfrm xmlns:a="http://schemas.openxmlformats.org/drawingml/2006/main">
            <a:off x="666750" y="3905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Only 35.3% of alerts were correct on the final synthetic test.</a:t>
            </a:r>
          </a:p>
        </p:txBody>
      </p:sp>
      <p:sp>
        <p:nvSpPr>
          <p:cNvPr id="8" name="">
            <a:extLst xmlns:a="http://schemas.openxmlformats.org/drawingml/2006/main">
              <a:ext uri="{FF2B5EF4-FFF2-40B4-BE49-F238E27FC236}">
                <a16:creationId xmlns:a16="http://schemas.microsoft.com/office/drawing/2014/main" id="{A7F3DCED-3C67-4456-AA2B-1397D25BFBFA}"/>
              </a:ext>
            </a:extLst>
          </p:cNvPr>
          <p:cNvSpPr>
            <a:spLocks xmlns:a="http://schemas.openxmlformats.org/drawingml/2006/main" noGrp="1"/>
          </p:cNvSpPr>
          <p:nvPr/>
        </p:nvSpPr>
        <p:spPr>
          <a:xfrm xmlns:a="http://schemas.openxmlformats.org/drawingml/2006/main">
            <a:off x="666750" y="48006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Further research</a:t>
            </a:r>
          </a:p>
        </p:txBody>
      </p:sp>
      <p:sp>
        <p:nvSpPr>
          <p:cNvPr id="9" name="">
            <a:extLst xmlns:a="http://schemas.openxmlformats.org/drawingml/2006/main">
              <a:ext uri="{FF2B5EF4-FFF2-40B4-BE49-F238E27FC236}">
                <a16:creationId xmlns:a16="http://schemas.microsoft.com/office/drawing/2014/main" id="{1A1099DB-75B1-46D9-92E9-F82A4DB12289}"/>
              </a:ext>
            </a:extLst>
          </p:cNvPr>
          <p:cNvSpPr>
            <a:spLocks xmlns:a="http://schemas.openxmlformats.org/drawingml/2006/main" noGrp="1"/>
          </p:cNvSpPr>
          <p:nvPr/>
        </p:nvSpPr>
        <p:spPr>
          <a:xfrm xmlns:a="http://schemas.openxmlformats.org/drawingml/2006/main">
            <a:off x="666750" y="52673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Use permitted longitudinal data and prospective clinical evaluation.</a:t>
            </a:r>
          </a:p>
        </p:txBody>
      </p:sp>
      <p:sp>
        <p:nvSpPr>
          <p:cNvPr id="11" name="">
            <a:extLst xmlns:a="http://schemas.openxmlformats.org/drawingml/2006/main">
              <a:ext uri="{FF2B5EF4-FFF2-40B4-BE49-F238E27FC236}">
                <a16:creationId xmlns:a16="http://schemas.microsoft.com/office/drawing/2014/main" id="{4728E28E-CB8C-4F0A-B88B-1DA8C3C0B11F}"/>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synthetic-data notice, false alarms and missed events</a:t>
            </a:r>
          </a:p>
        </p:txBody>
      </p:sp>
    </p:spTree>
    <p:extLst>
      <p:ext uri="{BB962C8B-B14F-4D97-AF65-F5344CB8AC3E}">
        <p14:creationId xmlns:p14="http://schemas.microsoft.com/office/powerpoint/2010/main" val="475594731"/>
      </p:ext>
    </p:extLst>
  </p:cSld>
</p:sld>
</file>

<file path=ppt/slides/slide17.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63D637-87DE-476F-B927-1044DD2C50AB}"/>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Reproducibility and verification</a:t>
            </a:r>
          </a:p>
        </p:txBody>
      </p:sp>
      <p:sp>
        <p:nvSpPr>
          <p:cNvPr id="2" name="">
            <a:extLst xmlns:a="http://schemas.openxmlformats.org/drawingml/2006/main">
              <a:ext uri="{FF2B5EF4-FFF2-40B4-BE49-F238E27FC236}">
                <a16:creationId xmlns:a16="http://schemas.microsoft.com/office/drawing/2014/main" id="{125427E3-1D79-4530-8E5A-E2E9C3158781}"/>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869DC316-C753-4431-8BF1-70B2F939C18A}"/>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18:20 - 19:10   17/18</a:t>
            </a:r>
          </a:p>
        </p:txBody>
      </p:sp>
      <p:sp>
        <p:nvSpPr>
          <p:cNvPr id="4" name="">
            <a:extLst xmlns:a="http://schemas.openxmlformats.org/drawingml/2006/main">
              <a:ext uri="{FF2B5EF4-FFF2-40B4-BE49-F238E27FC236}">
                <a16:creationId xmlns:a16="http://schemas.microsoft.com/office/drawing/2014/main" id="{5CF0ECE7-7F75-46BA-85D0-BB57A7AB90A9}"/>
              </a:ext>
            </a:extLst>
          </p:cNvPr>
          <p:cNvSpPr>
            <a:spLocks xmlns:a="http://schemas.openxmlformats.org/drawingml/2006/main" noGrp="1"/>
          </p:cNvSpPr>
          <p:nvPr/>
        </p:nvSpPr>
        <p:spPr>
          <a:xfrm xmlns:a="http://schemas.openxmlformats.org/drawingml/2006/main">
            <a:off x="666750" y="207645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Run the full pipeline</a:t>
            </a:r>
          </a:p>
        </p:txBody>
      </p:sp>
      <p:sp>
        <p:nvSpPr>
          <p:cNvPr id="5" name="">
            <a:extLst xmlns:a="http://schemas.openxmlformats.org/drawingml/2006/main">
              <a:ext uri="{FF2B5EF4-FFF2-40B4-BE49-F238E27FC236}">
                <a16:creationId xmlns:a16="http://schemas.microsoft.com/office/drawing/2014/main" id="{BD26DE42-0DEF-4C9D-8BCF-DCCB0E81AEBC}"/>
              </a:ext>
            </a:extLst>
          </p:cNvPr>
          <p:cNvSpPr>
            <a:spLocks xmlns:a="http://schemas.openxmlformats.org/drawingml/2006/main" noGrp="1"/>
          </p:cNvSpPr>
          <p:nvPr/>
        </p:nvSpPr>
        <p:spPr>
          <a:xfrm xmlns:a="http://schemas.openxmlformats.org/drawingml/2006/main">
            <a:off x="666750" y="25431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python train.py</a:t>
            </a:r>
          </a:p>
        </p:txBody>
      </p:sp>
      <p:sp>
        <p:nvSpPr>
          <p:cNvPr id="6" name="">
            <a:extLst xmlns:a="http://schemas.openxmlformats.org/drawingml/2006/main">
              <a:ext uri="{FF2B5EF4-FFF2-40B4-BE49-F238E27FC236}">
                <a16:creationId xmlns:a16="http://schemas.microsoft.com/office/drawing/2014/main" id="{D7FECD3F-04C8-4F7F-BF95-0F3C178EEFD4}"/>
              </a:ext>
            </a:extLst>
          </p:cNvPr>
          <p:cNvSpPr>
            <a:spLocks xmlns:a="http://schemas.openxmlformats.org/drawingml/2006/main" noGrp="1"/>
          </p:cNvSpPr>
          <p:nvPr/>
        </p:nvSpPr>
        <p:spPr>
          <a:xfrm xmlns:a="http://schemas.openxmlformats.org/drawingml/2006/main">
            <a:off x="666750" y="34385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Check all exported predictions</a:t>
            </a:r>
          </a:p>
        </p:txBody>
      </p:sp>
      <p:sp>
        <p:nvSpPr>
          <p:cNvPr id="7" name="">
            <a:extLst xmlns:a="http://schemas.openxmlformats.org/drawingml/2006/main">
              <a:ext uri="{FF2B5EF4-FFF2-40B4-BE49-F238E27FC236}">
                <a16:creationId xmlns:a16="http://schemas.microsoft.com/office/drawing/2014/main" id="{6E10AD8D-51D4-472C-9348-1131C630C417}"/>
              </a:ext>
            </a:extLst>
          </p:cNvPr>
          <p:cNvSpPr>
            <a:spLocks xmlns:a="http://schemas.openxmlformats.org/drawingml/2006/main" noGrp="1"/>
          </p:cNvSpPr>
          <p:nvPr/>
        </p:nvSpPr>
        <p:spPr>
          <a:xfrm xmlns:a="http://schemas.openxmlformats.org/drawingml/2006/main">
            <a:off x="666750" y="3905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node check-model.cjs</a:t>
            </a:r>
          </a:p>
        </p:txBody>
      </p:sp>
      <p:sp>
        <p:nvSpPr>
          <p:cNvPr id="8" name="">
            <a:extLst xmlns:a="http://schemas.openxmlformats.org/drawingml/2006/main">
              <a:ext uri="{FF2B5EF4-FFF2-40B4-BE49-F238E27FC236}">
                <a16:creationId xmlns:a16="http://schemas.microsoft.com/office/drawing/2014/main" id="{BE5AEBAD-11C8-4A48-A9D0-3DF09F6B26E3}"/>
              </a:ext>
            </a:extLst>
          </p:cNvPr>
          <p:cNvSpPr>
            <a:spLocks xmlns:a="http://schemas.openxmlformats.org/drawingml/2006/main" noGrp="1"/>
          </p:cNvSpPr>
          <p:nvPr/>
        </p:nvSpPr>
        <p:spPr>
          <a:xfrm xmlns:a="http://schemas.openxmlformats.org/drawingml/2006/main">
            <a:off x="666750" y="48006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F38"/>
                </a:solidFill>
                <a:latin typeface="Segoe UI"/>
                <a:ea typeface="Segoe UI"/>
                <a:cs typeface="Segoe UI"/>
              </a:defRPr>
            </a:defPPr>
          </a:lstStyle>
          <a:p xmlns:a="http://schemas.openxmlformats.org/drawingml/2006/main">
            <a:pPr>
              <a:buNone/>
              <a:defRPr sz="2175" b="1">
                <a:solidFill>
                  <a:srgbClr val="173F38"/>
                </a:solidFill>
                <a:latin typeface="Segoe UI"/>
                <a:ea typeface="Segoe UI"/>
                <a:cs typeface="Segoe UI"/>
              </a:defRPr>
            </a:pPr>
            <a:r>
              <a:rPr sz="2175" b="1">
                <a:solidFill>
                  <a:srgbClr val="173F38"/>
                </a:solidFill>
                <a:latin typeface="Segoe UI"/>
                <a:ea typeface="Segoe UI"/>
                <a:cs typeface="Segoe UI"/>
              </a:rPr>
              <a:t>Check records and future labels</a:t>
            </a:r>
          </a:p>
        </p:txBody>
      </p:sp>
      <p:sp>
        <p:nvSpPr>
          <p:cNvPr id="9" name="">
            <a:extLst xmlns:a="http://schemas.openxmlformats.org/drawingml/2006/main">
              <a:ext uri="{FF2B5EF4-FFF2-40B4-BE49-F238E27FC236}">
                <a16:creationId xmlns:a16="http://schemas.microsoft.com/office/drawing/2014/main" id="{2E0D9BEC-B2C8-427D-9113-D483EF5F7AC4}"/>
              </a:ext>
            </a:extLst>
          </p:cNvPr>
          <p:cNvSpPr>
            <a:spLocks xmlns:a="http://schemas.openxmlformats.org/drawingml/2006/main" noGrp="1"/>
          </p:cNvSpPr>
          <p:nvPr/>
        </p:nvSpPr>
        <p:spPr>
          <a:xfrm xmlns:a="http://schemas.openxmlformats.org/drawingml/2006/main">
            <a:off x="666750" y="52673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77D72"/>
                </a:solidFill>
                <a:latin typeface="Segoe UI"/>
                <a:ea typeface="Segoe UI"/>
                <a:cs typeface="Segoe UI"/>
              </a:defRPr>
            </a:defPPr>
          </a:lstStyle>
          <a:p xmlns:a="http://schemas.openxmlformats.org/drawingml/2006/main">
            <a:pPr>
              <a:buNone/>
              <a:defRPr sz="1875" b="0">
                <a:solidFill>
                  <a:srgbClr val="677D72"/>
                </a:solidFill>
                <a:latin typeface="Segoe UI"/>
                <a:ea typeface="Segoe UI"/>
                <a:cs typeface="Segoe UI"/>
              </a:defRPr>
            </a:pPr>
            <a:r>
              <a:rPr sz="1875" b="0">
                <a:solidFill>
                  <a:srgbClr val="677D72"/>
                </a:solidFill>
                <a:latin typeface="Segoe UI"/>
                <a:ea typeface="Segoe UI"/>
                <a:cs typeface="Segoe UI"/>
              </a:rPr>
              <a:t>python verify-data.py</a:t>
            </a:r>
          </a:p>
        </p:txBody>
      </p:sp>
      <p:sp>
        <p:nvSpPr>
          <p:cNvPr id="11" name="">
            <a:extLst xmlns:a="http://schemas.openxmlformats.org/drawingml/2006/main">
              <a:ext uri="{FF2B5EF4-FFF2-40B4-BE49-F238E27FC236}">
                <a16:creationId xmlns:a16="http://schemas.microsoft.com/office/drawing/2014/main" id="{54644C20-76A5-4838-A9FF-20E6A84E6C40}"/>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evidence: training and verification scripts</a:t>
            </a:r>
          </a:p>
        </p:txBody>
      </p:sp>
    </p:spTree>
    <p:extLst>
      <p:ext uri="{BB962C8B-B14F-4D97-AF65-F5344CB8AC3E}">
        <p14:creationId xmlns:p14="http://schemas.microsoft.com/office/powerpoint/2010/main" val="2007384522"/>
      </p:ext>
    </p:extLst>
  </p:cSld>
</p:sld>
</file>

<file path=ppt/slides/slide18.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13AE9C-83EA-43E0-B616-032F79C520BC}"/>
              </a:ext>
            </a:extLst>
          </p:cNvPr>
          <p:cNvSpPr>
            <a:spLocks xmlns:a="http://schemas.openxmlformats.org/drawingml/2006/main" noGrp="1"/>
          </p:cNvSpPr>
          <p:nvPr/>
        </p:nvSpPr>
        <p:spPr>
          <a:xfrm xmlns:a="http://schemas.openxmlformats.org/drawingml/2006/main">
            <a:off x="666750" y="666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F38"/>
                </a:solidFill>
                <a:latin typeface="Segoe UI"/>
                <a:ea typeface="Segoe UI"/>
                <a:cs typeface="Segoe UI"/>
              </a:defRPr>
            </a:defPPr>
          </a:lstStyle>
          <a:p xmlns:a="http://schemas.openxmlformats.org/drawingml/2006/main">
            <a:pPr>
              <a:buNone/>
              <a:defRPr sz="3450" b="1">
                <a:solidFill>
                  <a:srgbClr val="173F38"/>
                </a:solidFill>
                <a:latin typeface="Segoe UI"/>
                <a:ea typeface="Segoe UI"/>
                <a:cs typeface="Segoe UI"/>
              </a:defRPr>
            </a:pPr>
            <a:r>
              <a:rPr sz="3450" b="1">
                <a:solidFill>
                  <a:srgbClr val="173F38"/>
                </a:solidFill>
                <a:latin typeface="Segoe UI"/>
                <a:ea typeface="Segoe UI"/>
                <a:cs typeface="Segoe UI"/>
              </a:rPr>
              <a:t>Repository, license and submission</a:t>
            </a:r>
          </a:p>
        </p:txBody>
      </p:sp>
      <p:sp>
        <p:nvSpPr>
          <p:cNvPr id="2" name="">
            <a:extLst xmlns:a="http://schemas.openxmlformats.org/drawingml/2006/main">
              <a:ext uri="{FF2B5EF4-FFF2-40B4-BE49-F238E27FC236}">
                <a16:creationId xmlns:a16="http://schemas.microsoft.com/office/drawing/2014/main" id="{AC1655E8-40B4-478A-A250-BE1A20A75CE2}"/>
              </a:ext>
            </a:extLst>
          </p:cNvPr>
          <p:cNvSpPr>
            <a:spLocks xmlns:a="http://schemas.openxmlformats.org/drawingml/2006/main" noGrp="1"/>
          </p:cNvSpPr>
          <p:nvPr/>
        </p:nvSpPr>
        <p:spPr>
          <a:xfrm xmlns:a="http://schemas.openxmlformats.org/drawingml/2006/main">
            <a:off x="666750" y="63341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77D72"/>
                </a:solidFill>
                <a:latin typeface="Segoe UI"/>
                <a:ea typeface="Segoe UI"/>
                <a:cs typeface="Segoe UI"/>
              </a:defRPr>
            </a:defPPr>
          </a:lstStyle>
          <a:p xmlns:a="http://schemas.openxmlformats.org/drawingml/2006/main">
            <a:pPr>
              <a:buNone/>
              <a:defRPr sz="1350" b="0">
                <a:solidFill>
                  <a:srgbClr val="677D72"/>
                </a:solidFill>
                <a:latin typeface="Segoe UI"/>
                <a:ea typeface="Segoe UI"/>
                <a:cs typeface="Segoe UI"/>
              </a:defRPr>
            </a:pPr>
            <a:r>
              <a:rPr sz="1350" b="0">
                <a:solidFill>
                  <a:srgbClr val="677D72"/>
                </a:solidFill>
                <a:latin typeface="Segoe UI"/>
                <a:ea typeface="Segoe UI"/>
                <a:cs typeface="Segoe UI"/>
              </a:rPr>
              <a:t>jagjeet.work.16  /  NIT Agartala</a:t>
            </a:r>
          </a:p>
        </p:txBody>
      </p:sp>
      <p:sp>
        <p:nvSpPr>
          <p:cNvPr id="3" name="">
            <a:extLst xmlns:a="http://schemas.openxmlformats.org/drawingml/2006/main">
              <a:ext uri="{FF2B5EF4-FFF2-40B4-BE49-F238E27FC236}">
                <a16:creationId xmlns:a16="http://schemas.microsoft.com/office/drawing/2014/main" id="{4B3585C1-EA52-43CC-98CE-A8F4994D62E1}"/>
              </a:ext>
            </a:extLst>
          </p:cNvPr>
          <p:cNvSpPr>
            <a:spLocks xmlns:a="http://schemas.openxmlformats.org/drawingml/2006/main" noGrp="1"/>
          </p:cNvSpPr>
          <p:nvPr/>
        </p:nvSpPr>
        <p:spPr>
          <a:xfrm xmlns:a="http://schemas.openxmlformats.org/drawingml/2006/main">
            <a:off x="8763000" y="63341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677D72"/>
                </a:solidFill>
                <a:latin typeface="Segoe UI"/>
                <a:ea typeface="Segoe UI"/>
                <a:cs typeface="Segoe UI"/>
              </a:defRPr>
            </a:defPPr>
          </a:lstStyle>
          <a:p xmlns:a="http://schemas.openxmlformats.org/drawingml/2006/main">
            <a:pPr>
              <a:buNone/>
              <a:defRPr sz="1275" b="0">
                <a:solidFill>
                  <a:srgbClr val="677D72"/>
                </a:solidFill>
                <a:latin typeface="Segoe UI"/>
                <a:ea typeface="Segoe UI"/>
                <a:cs typeface="Segoe UI"/>
              </a:defRPr>
            </a:pPr>
            <a:r>
              <a:rPr sz="1275" b="0">
                <a:solidFill>
                  <a:srgbClr val="677D72"/>
                </a:solidFill>
                <a:latin typeface="Segoe UI"/>
                <a:ea typeface="Segoe UI"/>
                <a:cs typeface="Segoe UI"/>
              </a:rPr>
              <a:t>19:10 - 20:00   18/18</a:t>
            </a:r>
          </a:p>
        </p:txBody>
      </p:sp>
      <p:sp>
        <p:nvSpPr>
          <p:cNvPr id="4" name="">
            <a:extLst xmlns:a="http://schemas.openxmlformats.org/drawingml/2006/main">
              <a:ext uri="{FF2B5EF4-FFF2-40B4-BE49-F238E27FC236}">
                <a16:creationId xmlns:a16="http://schemas.microsoft.com/office/drawing/2014/main" id="{0D788410-3C0F-4811-8708-769C1865FF1E}"/>
              </a:ext>
            </a:extLst>
          </p:cNvPr>
          <p:cNvSpPr>
            <a:spLocks xmlns:a="http://schemas.openxmlformats.org/drawingml/2006/main" noGrp="1"/>
          </p:cNvSpPr>
          <p:nvPr/>
        </p:nvSpPr>
        <p:spPr>
          <a:xfrm xmlns:a="http://schemas.openxmlformats.org/drawingml/2006/main">
            <a:off x="666750" y="20669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267B71"/>
                </a:solidFill>
                <a:latin typeface="Segoe UI"/>
                <a:ea typeface="Segoe UI"/>
                <a:cs typeface="Segoe UI"/>
              </a:defRPr>
            </a:defPPr>
          </a:lstStyle>
          <a:p xmlns:a="http://schemas.openxmlformats.org/drawingml/2006/main">
            <a:pPr>
              <a:buNone/>
              <a:defRPr sz="2625" b="1">
                <a:solidFill>
                  <a:srgbClr val="267B71"/>
                </a:solidFill>
                <a:latin typeface="Segoe UI"/>
                <a:ea typeface="Segoe UI"/>
                <a:cs typeface="Segoe UI"/>
              </a:defRPr>
            </a:pPr>
            <a:r>
              <a:rPr sz="2625" b="1">
                <a:solidFill>
                  <a:srgbClr val="267B71"/>
                </a:solidFill>
                <a:latin typeface="Segoe UI"/>
                <a:ea typeface="Segoe UI"/>
                <a:cs typeface="Segoe UI"/>
              </a:rPr>
              <a:t>Team jagjeet.work.16</a:t>
            </a:r>
          </a:p>
        </p:txBody>
      </p:sp>
      <p:sp>
        <p:nvSpPr>
          <p:cNvPr id="5" name="">
            <a:extLst xmlns:a="http://schemas.openxmlformats.org/drawingml/2006/main">
              <a:ext uri="{FF2B5EF4-FFF2-40B4-BE49-F238E27FC236}">
                <a16:creationId xmlns:a16="http://schemas.microsoft.com/office/drawing/2014/main" id="{88DF4417-F37F-4317-9806-C90A1C5CB573}"/>
              </a:ext>
            </a:extLst>
          </p:cNvPr>
          <p:cNvSpPr>
            <a:spLocks xmlns:a="http://schemas.openxmlformats.org/drawingml/2006/main" noGrp="1"/>
          </p:cNvSpPr>
          <p:nvPr/>
        </p:nvSpPr>
        <p:spPr>
          <a:xfrm xmlns:a="http://schemas.openxmlformats.org/drawingml/2006/main">
            <a:off x="666750" y="2771775"/>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F38"/>
                </a:solidFill>
                <a:latin typeface="Segoe UI"/>
                <a:ea typeface="Segoe UI"/>
                <a:cs typeface="Segoe UI"/>
              </a:defRPr>
            </a:defPPr>
          </a:lstStyle>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Jagjeet Singh, Team leader</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Shivay Saurya, Team member</a:t>
            </a:r>
          </a:p>
          <a:p xmlns:a="http://schemas.openxmlformats.org/drawingml/2006/main">
            <a:pPr>
              <a:buNone/>
              <a:defRPr sz="2100" b="0">
                <a:solidFill>
                  <a:srgbClr val="173F38"/>
                </a:solidFill>
                <a:latin typeface="Segoe UI"/>
                <a:ea typeface="Segoe UI"/>
                <a:cs typeface="Segoe UI"/>
              </a:defRPr>
            </a:pPr>
            <a:r>
              <a:rPr sz="2100" b="0">
                <a:solidFill>
                  <a:srgbClr val="173F38"/>
                </a:solidFill>
                <a:latin typeface="Segoe UI"/>
                <a:ea typeface="Segoe UI"/>
                <a:cs typeface="Segoe UI"/>
              </a:rPr>
              <a:t>National Institute of Technology Agartala</a:t>
            </a:r>
          </a:p>
        </p:txBody>
      </p:sp>
      <p:sp>
        <p:nvSpPr>
          <p:cNvPr id="6" name="">
            <a:extLst xmlns:a="http://schemas.openxmlformats.org/drawingml/2006/main">
              <a:ext uri="{FF2B5EF4-FFF2-40B4-BE49-F238E27FC236}">
                <a16:creationId xmlns:a16="http://schemas.microsoft.com/office/drawing/2014/main" id="{DE4152F9-A1C5-4213-B563-58BC330A9D71}"/>
              </a:ext>
            </a:extLst>
          </p:cNvPr>
          <p:cNvSpPr>
            <a:spLocks xmlns:a="http://schemas.openxmlformats.org/drawingml/2006/main" noGrp="1"/>
          </p:cNvSpPr>
          <p:nvPr/>
        </p:nvSpPr>
        <p:spPr>
          <a:xfrm xmlns:a="http://schemas.openxmlformats.org/drawingml/2006/main">
            <a:off x="666750" y="44577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7B71"/>
                </a:solidFill>
                <a:latin typeface="Segoe UI"/>
                <a:ea typeface="Segoe UI"/>
                <a:cs typeface="Segoe UI"/>
              </a:defRPr>
            </a:defPPr>
          </a:lstStyle>
          <a:p xmlns:a="http://schemas.openxmlformats.org/drawingml/2006/main">
            <a:pPr>
              <a:buNone/>
              <a:defRPr sz="2025" b="0">
                <a:solidFill>
                  <a:srgbClr val="267B71"/>
                </a:solidFill>
                <a:latin typeface="Segoe UI"/>
                <a:ea typeface="Segoe UI"/>
                <a:cs typeface="Segoe UI"/>
              </a:defRPr>
            </a:pPr>
            <a:r>
              <a:rPr sz="2025" u="sng">
                <a:solidFill>
                  <a:srgbClr val="267B71"/>
                </a:solidFill>
                <a:latin typeface="Segoe UI"/>
                <a:ea typeface="Segoe UI"/>
                <a:cs typeface="Segoe UI"/>
                <a:hlinkClick xmlns:r="http://schemas.openxmlformats.org/officeDocument/2006/relationships" r:id="Rd6c9e7825eb14c54"/>
              </a:rPr>
              <a:t>Public GitHub repository</a:t>
            </a:r>
          </a:p>
        </p:txBody>
      </p:sp>
      <p:sp>
        <p:nvSpPr>
          <p:cNvPr id="7" name="">
            <a:extLst xmlns:a="http://schemas.openxmlformats.org/drawingml/2006/main">
              <a:ext uri="{FF2B5EF4-FFF2-40B4-BE49-F238E27FC236}">
                <a16:creationId xmlns:a16="http://schemas.microsoft.com/office/drawing/2014/main" id="{AAD13A73-965A-498B-983B-69245BE7E63F}"/>
              </a:ext>
            </a:extLst>
          </p:cNvPr>
          <p:cNvSpPr>
            <a:spLocks xmlns:a="http://schemas.openxmlformats.org/drawingml/2006/main" noGrp="1"/>
          </p:cNvSpPr>
          <p:nvPr/>
        </p:nvSpPr>
        <p:spPr>
          <a:xfrm xmlns:a="http://schemas.openxmlformats.org/drawingml/2006/main">
            <a:off x="666750" y="52673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77D72"/>
                </a:solidFill>
                <a:latin typeface="Segoe UI"/>
                <a:ea typeface="Segoe UI"/>
                <a:cs typeface="Segoe UI"/>
              </a:defRPr>
            </a:defPPr>
          </a:lstStyle>
          <a:p xmlns:a="http://schemas.openxmlformats.org/drawingml/2006/main">
            <a:pPr>
              <a:buNone/>
              <a:defRPr sz="1800" b="0">
                <a:solidFill>
                  <a:srgbClr val="677D72"/>
                </a:solidFill>
                <a:latin typeface="Segoe UI"/>
                <a:ea typeface="Segoe UI"/>
                <a:cs typeface="Segoe UI"/>
              </a:defRPr>
            </a:pPr>
            <a:r>
              <a:rPr sz="1800" b="0">
                <a:solidFill>
                  <a:srgbClr val="677D72"/>
                </a:solidFill>
                <a:latin typeface="Segoe UI"/>
                <a:ea typeface="Segoe UI"/>
                <a:cs typeface="Segoe UI"/>
              </a:rPr>
              <a:t>MIT license. Source, data, fitted models and documentation included.</a:t>
            </a:r>
          </a:p>
          <a:p xmlns:a="http://schemas.openxmlformats.org/drawingml/2006/main">
            <a:pPr>
              <a:buNone/>
              <a:defRPr sz="1800" b="0">
                <a:solidFill>
                  <a:srgbClr val="677D72"/>
                </a:solidFill>
                <a:latin typeface="Segoe UI"/>
                <a:ea typeface="Segoe UI"/>
                <a:cs typeface="Segoe UI"/>
              </a:defRPr>
            </a:pPr>
            <a:r>
              <a:rPr sz="1800" b="0">
                <a:solidFill>
                  <a:srgbClr val="677D72"/>
                </a:solidFill>
                <a:latin typeface="Segoe UI"/>
                <a:ea typeface="Segoe UI"/>
                <a:cs typeface="Segoe UI"/>
              </a:rPr>
              <a:t>Video link: pending after the required 20+ minute recording.</a:t>
            </a:r>
          </a:p>
        </p:txBody>
      </p:sp>
      <p:sp>
        <p:nvSpPr>
          <p:cNvPr id="9" name="">
            <a:extLst xmlns:a="http://schemas.openxmlformats.org/drawingml/2006/main">
              <a:ext uri="{FF2B5EF4-FFF2-40B4-BE49-F238E27FC236}">
                <a16:creationId xmlns:a16="http://schemas.microsoft.com/office/drawing/2014/main" id="{24157AFE-308A-465B-BB87-B839B826EDBF}"/>
              </a:ext>
            </a:extLst>
          </p:cNvPr>
          <p:cNvSpPr>
            <a:spLocks xmlns:a="http://schemas.openxmlformats.org/drawingml/2006/main" noGrp="1"/>
          </p:cNvSpPr>
          <p:nvPr/>
        </p:nvSpPr>
        <p:spPr>
          <a:xfrm xmlns:a="http://schemas.openxmlformats.org/drawingml/2006/main">
            <a:off x="666750" y="16478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a:solidFill>
                  <a:srgbClr val="267B71"/>
                </a:solidFill>
                <a:latin typeface="Segoe UI"/>
                <a:ea typeface="Segoe UI"/>
                <a:cs typeface="Segoe UI"/>
              </a:defRPr>
            </a:defPPr>
          </a:lstStyle>
          <a:p xmlns:a="http://schemas.openxmlformats.org/drawingml/2006/main">
            <a:pPr>
              <a:defRPr sz="1350">
                <a:solidFill>
                  <a:srgbClr val="267B71"/>
                </a:solidFill>
                <a:latin typeface="Segoe UI"/>
                <a:ea typeface="Segoe UI"/>
                <a:cs typeface="Segoe UI"/>
              </a:defRPr>
            </a:pPr>
            <a:r>
              <a:rPr sz="1350">
                <a:solidFill>
                  <a:srgbClr val="267B71"/>
                </a:solidFill>
                <a:latin typeface="Segoe UI"/>
                <a:ea typeface="Segoe UI"/>
                <a:cs typeface="Segoe UI"/>
              </a:rPr>
              <a:t>Prototype evidence: public README, project files and MIT license</a:t>
            </a:r>
          </a:p>
        </p:txBody>
      </p:sp>
    </p:spTree>
    <p:extLst>
      <p:ext uri="{BB962C8B-B14F-4D97-AF65-F5344CB8AC3E}">
        <p14:creationId xmlns:p14="http://schemas.microsoft.com/office/powerpoint/2010/main" val="21045491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2026-10-23T16:40:53.6270000Z</dcterms:created>
  <dcterms:modified xsi:type="dcterms:W3CDTF">2026-10-23T16:40:53.6270000Z</dcterms:modified>
</coreProperties>
</file>